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>
    <p:sldId id="256" r:id="rId2"/>
    <p:sldId id="276" r:id="rId3"/>
    <p:sldId id="258" r:id="rId4"/>
    <p:sldId id="278" r:id="rId5"/>
    <p:sldId id="283" r:id="rId6"/>
    <p:sldId id="259" r:id="rId7"/>
    <p:sldId id="279" r:id="rId8"/>
    <p:sldId id="280" r:id="rId9"/>
    <p:sldId id="284" r:id="rId10"/>
    <p:sldId id="285" r:id="rId11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E6E6E6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01" d="100"/>
          <a:sy n="101" d="100"/>
        </p:scale>
        <p:origin x="144" y="4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5A74288-C947-4756-8BD9-EA7F82D540BD}" type="datetimeFigureOut">
              <a:rPr lang="zh-TW" altLang="en-US" smtClean="0"/>
              <a:t>2021-03-21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6AA2DD9-4F1A-46BF-9F27-2C10BB587E9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522706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 smtClean="0"/>
              <a:t>按一下以編輯母片副標題樣式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AE62CD-8B21-4DCA-976C-72560D68D0CA}" type="datetime1">
              <a:rPr lang="zh-TW" altLang="en-US" smtClean="0"/>
              <a:t>2021-03-21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B6EF07-459A-4CB9-B1F3-0734876A23B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045363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B7AE41-A05E-49BD-9B51-43B9BEE09F68}" type="datetime1">
              <a:rPr lang="zh-TW" altLang="en-US" smtClean="0"/>
              <a:t>2021-03-21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B6EF07-459A-4CB9-B1F3-0734876A23B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6506692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0E07B1-B1DB-41D4-A293-DD0451BFCD2E}" type="datetime1">
              <a:rPr lang="zh-TW" altLang="en-US" smtClean="0"/>
              <a:t>2021-03-21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B6EF07-459A-4CB9-B1F3-0734876A23B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955180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2A294F-6296-4261-8659-5CF0977F2C8B}" type="datetime1">
              <a:rPr lang="zh-TW" altLang="en-US" smtClean="0"/>
              <a:t>2021-03-21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B6EF07-459A-4CB9-B1F3-0734876A23B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318241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34E62E-C413-4E58-B904-DFA0F38ADF3E}" type="datetime1">
              <a:rPr lang="zh-TW" altLang="en-US" smtClean="0"/>
              <a:t>2021-03-21</a:t>
            </a:fld>
            <a:endParaRPr lang="zh-TW" alt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B6EF07-459A-4CB9-B1F3-0734876A23B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204951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E1CE0E-7F83-4E6F-930D-B806258325C8}" type="datetime1">
              <a:rPr lang="zh-TW" altLang="en-US" smtClean="0"/>
              <a:t>2021-03-21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B6EF07-459A-4CB9-B1F3-0734876A23B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737473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EC49EA-79D2-40AE-BC5E-6155B76F832C}" type="datetime1">
              <a:rPr lang="zh-TW" altLang="en-US" smtClean="0"/>
              <a:t>2021-03-21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B6EF07-459A-4CB9-B1F3-0734876A23B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942192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263821-3DD8-4824-84F2-D2440375AD1A}" type="datetime1">
              <a:rPr lang="zh-TW" altLang="en-US" smtClean="0"/>
              <a:t>2021-03-21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B6EF07-459A-4CB9-B1F3-0734876A23B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067674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DD94D9-7E21-48A6-9A87-BA0AF01DECA7}" type="datetime1">
              <a:rPr lang="zh-TW" altLang="en-US" smtClean="0"/>
              <a:t>2021-03-21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B6EF07-459A-4CB9-B1F3-0734876A23B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277174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5CD77E-FA70-40ED-938B-98FBE1E917C8}" type="datetime1">
              <a:rPr lang="zh-TW" altLang="en-US" smtClean="0"/>
              <a:t>2021-03-21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B6EF07-459A-4CB9-B1F3-0734876A23B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526061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86E110-3EE8-4B8C-853C-B203B3244C6D}" type="datetime1">
              <a:rPr lang="zh-TW" altLang="en-US" smtClean="0"/>
              <a:t>2021-03-21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B6EF07-459A-4CB9-B1F3-0734876A23B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96550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3FA4732-7B13-4B13-9F29-AF1B1144B337}" type="datetime1">
              <a:rPr lang="zh-TW" altLang="en-US" smtClean="0"/>
              <a:t>2021-03-21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B6EF07-459A-4CB9-B1F3-0734876A23B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282455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youtu.be/F9t7F4I0HGs" TargetMode="External"/><Relationship Id="rId2" Type="http://schemas.openxmlformats.org/officeDocument/2006/relationships/hyperlink" Target="https://www.formprint.dev/file/FormPrint.7z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formprint.dev/" TargetMode="External"/><Relationship Id="rId5" Type="http://schemas.openxmlformats.org/officeDocument/2006/relationships/hyperlink" Target="https://www.formprint.dev/FormPrint/PrintTest.pdf" TargetMode="External"/><Relationship Id="rId4" Type="http://schemas.openxmlformats.org/officeDocument/2006/relationships/hyperlink" Target="https://youtu.be/6hd9FvsVEQ0" TargetMode="Externa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t.me/DataReport" TargetMode="External"/><Relationship Id="rId2" Type="http://schemas.openxmlformats.org/officeDocument/2006/relationships/hyperlink" Target="https://www.formprint.dev/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mailto:overprint.tw@gmail.com" TargetMode="External"/><Relationship Id="rId4" Type="http://schemas.openxmlformats.org/officeDocument/2006/relationships/hyperlink" Target="https://line.me/ti/p/T5l30_3EUi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TW" altLang="en-US" dirty="0" smtClean="0"/>
              <a:t>信封套印指南</a:t>
            </a:r>
            <a:endParaRPr lang="zh-TW" altLang="en-US" dirty="0"/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B6EF07-459A-4CB9-B1F3-0734876A23B5}" type="slidenum">
              <a:rPr lang="zh-TW" altLang="en-US" smtClean="0"/>
              <a:t>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736227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smtClean="0"/>
              <a:t>大綱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前置作業</a:t>
            </a:r>
          </a:p>
          <a:p>
            <a:r>
              <a:rPr lang="zh-TW" altLang="en-US" dirty="0"/>
              <a:t>取得要套印的信封及決定套印內容</a:t>
            </a:r>
          </a:p>
          <a:p>
            <a:r>
              <a:rPr lang="zh-TW" altLang="en-US" dirty="0"/>
              <a:t>套印設計說明</a:t>
            </a:r>
          </a:p>
          <a:p>
            <a:r>
              <a:rPr lang="zh-TW" altLang="en-US" dirty="0" smtClean="0"/>
              <a:t>與我們聯絡</a:t>
            </a:r>
            <a:endParaRPr lang="en-US" altLang="zh-TW" dirty="0"/>
          </a:p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B6EF07-459A-4CB9-B1F3-0734876A23B5}" type="slidenum">
              <a:rPr lang="zh-TW" altLang="en-US" smtClean="0"/>
              <a:t>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662521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838200" y="1495425"/>
            <a:ext cx="10515600" cy="4681538"/>
          </a:xfrm>
        </p:spPr>
        <p:txBody>
          <a:bodyPr>
            <a:normAutofit fontScale="92500" lnSpcReduction="20000"/>
          </a:bodyPr>
          <a:lstStyle/>
          <a:p>
            <a:pPr marL="514350" indent="-514350">
              <a:buFont typeface="+mj-lt"/>
              <a:buAutoNum type="arabicPeriod"/>
            </a:pPr>
            <a:r>
              <a:rPr lang="zh-TW" altLang="en-US" dirty="0" smtClean="0"/>
              <a:t>請加入我們的</a:t>
            </a:r>
            <a:r>
              <a:rPr lang="en-US" altLang="zh-TW" dirty="0" err="1" smtClean="0"/>
              <a:t>Telegarm</a:t>
            </a:r>
            <a:r>
              <a:rPr lang="zh-TW" altLang="en-US" dirty="0" smtClean="0"/>
              <a:t>或</a:t>
            </a:r>
            <a:r>
              <a:rPr lang="en-US" altLang="zh-TW" dirty="0" smtClean="0"/>
              <a:t>LINE</a:t>
            </a:r>
            <a:r>
              <a:rPr lang="zh-TW" altLang="en-US" dirty="0" smtClean="0"/>
              <a:t>帳號</a:t>
            </a:r>
            <a:r>
              <a:rPr lang="en-US" altLang="zh-TW" dirty="0" smtClean="0"/>
              <a:t>(</a:t>
            </a:r>
            <a:r>
              <a:rPr lang="zh-TW" altLang="en-US" dirty="0" smtClean="0"/>
              <a:t>最後一頁</a:t>
            </a:r>
            <a:r>
              <a:rPr lang="en-US" altLang="zh-TW" dirty="0" smtClean="0"/>
              <a:t>)</a:t>
            </a:r>
            <a:r>
              <a:rPr lang="zh-TW" altLang="en-US" dirty="0" smtClean="0"/>
              <a:t>，溝通會更即時。</a:t>
            </a:r>
            <a:endParaRPr lang="en-US" altLang="zh-TW" dirty="0" smtClean="0"/>
          </a:p>
          <a:p>
            <a:pPr marL="514350" indent="-514350">
              <a:buFont typeface="+mj-lt"/>
              <a:buAutoNum type="arabicPeriod"/>
            </a:pPr>
            <a:r>
              <a:rPr lang="zh-TW" altLang="en-US" dirty="0" smtClean="0"/>
              <a:t>完成軟體建置</a:t>
            </a:r>
            <a:r>
              <a:rPr lang="zh-TW" altLang="en-US" dirty="0" smtClean="0"/>
              <a:t>：</a:t>
            </a:r>
            <a:endParaRPr lang="en-US" altLang="zh-TW" dirty="0" smtClean="0"/>
          </a:p>
          <a:p>
            <a:pPr marL="971550" lvl="1" indent="-514350">
              <a:buFont typeface="+mj-lt"/>
              <a:buAutoNum type="arabicParenR"/>
            </a:pPr>
            <a:r>
              <a:rPr lang="zh-TW" altLang="en-US" sz="2200" dirty="0" smtClean="0"/>
              <a:t>軟體下載網址</a:t>
            </a:r>
            <a:r>
              <a:rPr lang="zh-TW" altLang="en-US" sz="2200" dirty="0" smtClean="0">
                <a:latin typeface="+mn-ea"/>
              </a:rPr>
              <a:t>：</a:t>
            </a:r>
            <a:r>
              <a:rPr lang="en-US" altLang="zh-TW" sz="2200" dirty="0">
                <a:latin typeface="+mn-ea"/>
                <a:hlinkClick r:id="rId2"/>
              </a:rPr>
              <a:t>https://www.formprint.dev/file/FormPrint.7z</a:t>
            </a:r>
            <a:endParaRPr lang="en-US" altLang="zh-TW" sz="2200" dirty="0">
              <a:latin typeface="+mn-ea"/>
            </a:endParaRPr>
          </a:p>
          <a:p>
            <a:pPr marL="971550" lvl="1" indent="-514350">
              <a:buFont typeface="+mj-lt"/>
              <a:buAutoNum type="arabicParenR"/>
            </a:pPr>
            <a:r>
              <a:rPr lang="zh-TW" altLang="en-US" sz="2200" dirty="0" smtClean="0"/>
              <a:t>安裝影片說明</a:t>
            </a:r>
            <a:r>
              <a:rPr lang="zh-TW" altLang="en-US" sz="2200" dirty="0" smtClean="0">
                <a:latin typeface="+mn-ea"/>
              </a:rPr>
              <a:t>網址</a:t>
            </a:r>
            <a:r>
              <a:rPr lang="zh-TW" altLang="en-US" sz="2200" dirty="0">
                <a:latin typeface="+mn-ea"/>
              </a:rPr>
              <a:t>：</a:t>
            </a:r>
            <a:r>
              <a:rPr lang="en-US" altLang="zh-TW" sz="2200" dirty="0">
                <a:latin typeface="+mn-ea"/>
                <a:hlinkClick r:id="rId3"/>
              </a:rPr>
              <a:t>https://youtu.be/F9t7F4I0HGs</a:t>
            </a:r>
            <a:endParaRPr lang="en-US" altLang="zh-TW" sz="2200" dirty="0">
              <a:latin typeface="+mn-ea"/>
            </a:endParaRPr>
          </a:p>
          <a:p>
            <a:pPr marL="514350" indent="-514350">
              <a:buFont typeface="+mj-lt"/>
              <a:buAutoNum type="arabicPeriod"/>
            </a:pPr>
            <a:r>
              <a:rPr lang="zh-TW" altLang="en-US" dirty="0" smtClean="0"/>
              <a:t>完成表格引用：</a:t>
            </a:r>
            <a:endParaRPr lang="en-US" altLang="zh-TW" dirty="0"/>
          </a:p>
          <a:p>
            <a:pPr marL="971550" lvl="1" indent="-514350">
              <a:buFont typeface="+mj-lt"/>
              <a:buAutoNum type="arabicParenR"/>
            </a:pPr>
            <a:r>
              <a:rPr lang="zh-TW" altLang="en-US" sz="2200" dirty="0"/>
              <a:t>匯入表格、建立基本資料設定印表機及套印。影片說明網址：</a:t>
            </a:r>
            <a:r>
              <a:rPr lang="en-US" altLang="zh-TW" sz="2200" dirty="0">
                <a:hlinkClick r:id="rId4"/>
              </a:rPr>
              <a:t>https</a:t>
            </a:r>
            <a:r>
              <a:rPr lang="en-US" altLang="zh-TW" sz="2200" dirty="0">
                <a:hlinkClick r:id="rId4"/>
              </a:rPr>
              <a:t>://youtu.be/6hd9FvsVEQ0</a:t>
            </a:r>
            <a:endParaRPr lang="en-US" altLang="zh-TW" sz="2200" dirty="0"/>
          </a:p>
          <a:p>
            <a:pPr marL="971550" lvl="1" indent="-514350">
              <a:buFont typeface="+mj-lt"/>
              <a:buAutoNum type="arabicParenR"/>
            </a:pPr>
            <a:r>
              <a:rPr lang="zh-TW" altLang="en-US" sz="2200" dirty="0"/>
              <a:t>將資料套印在正確的</a:t>
            </a:r>
            <a:r>
              <a:rPr lang="zh-TW" altLang="en-US" sz="2200" dirty="0"/>
              <a:t>位置。說明文件網址：</a:t>
            </a:r>
            <a:r>
              <a:rPr lang="en-US" altLang="zh-TW" sz="2200" dirty="0">
                <a:hlinkClick r:id="rId5"/>
              </a:rPr>
              <a:t>https://www.formprint.dev/FormPrint/PrintTest.pdf</a:t>
            </a:r>
            <a:endParaRPr lang="en-US" altLang="zh-TW" sz="2200" dirty="0"/>
          </a:p>
          <a:p>
            <a:pPr marL="514350" indent="-514350">
              <a:buFont typeface="+mj-lt"/>
              <a:buAutoNum type="arabicPeriod"/>
            </a:pPr>
            <a:r>
              <a:rPr lang="zh-TW" altLang="en-US" dirty="0" smtClean="0">
                <a:solidFill>
                  <a:srgbClr val="0000FF"/>
                </a:solidFill>
              </a:rPr>
              <a:t>下面</a:t>
            </a:r>
            <a:r>
              <a:rPr lang="zh-TW" altLang="en-US" dirty="0" smtClean="0">
                <a:solidFill>
                  <a:srgbClr val="0000FF"/>
                </a:solidFill>
              </a:rPr>
              <a:t>的操作，是假設</a:t>
            </a:r>
            <a:r>
              <a:rPr lang="zh-TW" altLang="en-US" dirty="0" smtClean="0">
                <a:solidFill>
                  <a:srgbClr val="0000FF"/>
                </a:solidFill>
              </a:rPr>
              <a:t>您經依「</a:t>
            </a:r>
            <a:r>
              <a:rPr lang="zh-TW" altLang="en-US" dirty="0"/>
              <a:t>將資料套印在正確的</a:t>
            </a:r>
            <a:r>
              <a:rPr lang="zh-TW" altLang="en-US" dirty="0" smtClean="0"/>
              <a:t>位置」說明，而且可以套印出正確漂亮的</a:t>
            </a:r>
            <a:r>
              <a:rPr lang="zh-TW" altLang="en-US" dirty="0" smtClean="0">
                <a:solidFill>
                  <a:srgbClr val="0000FF"/>
                </a:solidFill>
              </a:rPr>
              <a:t>表格</a:t>
            </a:r>
            <a:r>
              <a:rPr lang="zh-TW" altLang="en-US" dirty="0" smtClean="0">
                <a:solidFill>
                  <a:srgbClr val="0000FF"/>
                </a:solidFill>
              </a:rPr>
              <a:t>後</a:t>
            </a:r>
            <a:r>
              <a:rPr lang="zh-TW" altLang="en-US" dirty="0" smtClean="0">
                <a:solidFill>
                  <a:srgbClr val="0000FF"/>
                </a:solidFill>
              </a:rPr>
              <a:t>，想要套印信封的參考說明。</a:t>
            </a:r>
            <a:endParaRPr lang="en-US" altLang="zh-TW" dirty="0" smtClean="0">
              <a:solidFill>
                <a:srgbClr val="0000FF"/>
              </a:solidFill>
            </a:endParaRPr>
          </a:p>
          <a:p>
            <a:pPr marL="0" indent="0">
              <a:buNone/>
            </a:pPr>
            <a:r>
              <a:rPr lang="zh-TW" altLang="en-US" dirty="0" smtClean="0"/>
              <a:t>備註：</a:t>
            </a:r>
            <a:endParaRPr lang="en-US" altLang="zh-TW" dirty="0" smtClean="0"/>
          </a:p>
          <a:p>
            <a:pPr marL="514350" indent="-514350">
              <a:buFont typeface="+mj-lt"/>
              <a:buAutoNum type="arabicPeriod"/>
            </a:pPr>
            <a:r>
              <a:rPr lang="zh-TW" altLang="en-US" dirty="0" smtClean="0"/>
              <a:t>電腦套專家網址</a:t>
            </a:r>
            <a:r>
              <a:rPr lang="zh-TW" altLang="en-US" dirty="0" smtClean="0"/>
              <a:t>：</a:t>
            </a:r>
            <a:r>
              <a:rPr lang="en-US" altLang="zh-TW" dirty="0">
                <a:hlinkClick r:id="rId6"/>
              </a:rPr>
              <a:t>https://www.formprint.dev</a:t>
            </a:r>
            <a:r>
              <a:rPr lang="en-US" altLang="zh-TW" dirty="0" smtClean="0">
                <a:hlinkClick r:id="rId6"/>
              </a:rPr>
              <a:t>/</a:t>
            </a:r>
            <a:r>
              <a:rPr lang="en-US" altLang="zh-TW" dirty="0" smtClean="0"/>
              <a:t>    </a:t>
            </a:r>
          </a:p>
          <a:p>
            <a:pPr marL="514350" indent="-514350">
              <a:buFont typeface="+mj-lt"/>
              <a:buAutoNum type="arabicPeriod"/>
            </a:pPr>
            <a:r>
              <a:rPr lang="zh-TW" altLang="en-US" dirty="0" smtClean="0"/>
              <a:t>「</a:t>
            </a:r>
            <a:r>
              <a:rPr lang="zh-TW" altLang="en-US" dirty="0" smtClean="0">
                <a:solidFill>
                  <a:srgbClr val="FF0000"/>
                </a:solidFill>
              </a:rPr>
              <a:t>表格套印管理系統</a:t>
            </a:r>
            <a:r>
              <a:rPr lang="en-US" altLang="zh-TW" dirty="0" smtClean="0">
                <a:solidFill>
                  <a:srgbClr val="FF0000"/>
                </a:solidFill>
              </a:rPr>
              <a:t>\HELP</a:t>
            </a:r>
            <a:r>
              <a:rPr lang="zh-TW" altLang="en-US" dirty="0" smtClean="0"/>
              <a:t>」資料夾，有</a:t>
            </a:r>
            <a:r>
              <a:rPr lang="zh-TW" altLang="en-US" dirty="0" smtClean="0">
                <a:solidFill>
                  <a:srgbClr val="FF0000"/>
                </a:solidFill>
              </a:rPr>
              <a:t>入門指南</a:t>
            </a:r>
            <a:r>
              <a:rPr lang="zh-TW" altLang="en-US" dirty="0" smtClean="0"/>
              <a:t>文件可以參考</a:t>
            </a:r>
            <a:r>
              <a:rPr lang="zh-TW" altLang="en-US" dirty="0" smtClean="0"/>
              <a:t>。</a:t>
            </a:r>
            <a:endParaRPr lang="zh-TW" altLang="en-US" dirty="0"/>
          </a:p>
        </p:txBody>
      </p:sp>
      <p:sp>
        <p:nvSpPr>
          <p:cNvPr id="4" name="標題 1"/>
          <p:cNvSpPr txBox="1">
            <a:spLocks/>
          </p:cNvSpPr>
          <p:nvPr/>
        </p:nvSpPr>
        <p:spPr>
          <a:xfrm>
            <a:off x="838200" y="365125"/>
            <a:ext cx="10515600" cy="84448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zh-TW" altLang="en-US" sz="3600" dirty="0" smtClean="0"/>
              <a:t>前置作業</a:t>
            </a:r>
            <a:endParaRPr lang="zh-TW" altLang="en-US" sz="3600" dirty="0"/>
          </a:p>
        </p:txBody>
      </p:sp>
      <p:sp>
        <p:nvSpPr>
          <p:cNvPr id="2" name="投影片編號版面配置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B6EF07-459A-4CB9-B1F3-0734876A23B5}" type="slidenum">
              <a:rPr lang="zh-TW" altLang="en-US" smtClean="0"/>
              <a:t>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547444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838200" y="1495425"/>
            <a:ext cx="10515600" cy="4681538"/>
          </a:xfrm>
        </p:spPr>
        <p:txBody>
          <a:bodyPr>
            <a:normAutofit fontScale="77500" lnSpcReduction="20000"/>
          </a:bodyPr>
          <a:lstStyle/>
          <a:p>
            <a:pPr marL="514350" indent="-514350">
              <a:lnSpc>
                <a:spcPct val="120000"/>
              </a:lnSpc>
              <a:buFont typeface="+mj-lt"/>
              <a:buAutoNum type="arabicPeriod"/>
            </a:pPr>
            <a:r>
              <a:rPr lang="zh-TW" altLang="en-US" sz="3200" dirty="0"/>
              <a:t>取得要套印的</a:t>
            </a:r>
            <a:r>
              <a:rPr lang="zh-TW" altLang="en-US" sz="3200" dirty="0" smtClean="0"/>
              <a:t>信封</a:t>
            </a:r>
            <a:endParaRPr lang="en-US" altLang="zh-TW" sz="3200" dirty="0" smtClean="0"/>
          </a:p>
          <a:p>
            <a:pPr marL="971550" lvl="1" indent="-514350">
              <a:lnSpc>
                <a:spcPct val="120000"/>
              </a:lnSpc>
              <a:buFont typeface="+mj-lt"/>
              <a:buAutoNum type="arabicParenR"/>
            </a:pPr>
            <a:r>
              <a:rPr lang="zh-TW" altLang="en-US" sz="2600" dirty="0" smtClean="0"/>
              <a:t>可能有數百家的印刷廠提供信封，但信封</a:t>
            </a:r>
            <a:r>
              <a:rPr lang="zh-TW" altLang="en-US" sz="2600" dirty="0" smtClean="0"/>
              <a:t>的尺寸及印刷圖樣的位置，是</a:t>
            </a:r>
            <a:r>
              <a:rPr lang="zh-TW" altLang="en-US" sz="2600" dirty="0" smtClean="0"/>
              <a:t>沒有標準規範</a:t>
            </a:r>
            <a:r>
              <a:rPr lang="zh-TW" altLang="en-US" sz="2600" dirty="0" smtClean="0"/>
              <a:t>的，因此每</a:t>
            </a:r>
            <a:r>
              <a:rPr lang="en-US" altLang="zh-TW" sz="2600" dirty="0" smtClean="0"/>
              <a:t>1</a:t>
            </a:r>
            <a:r>
              <a:rPr lang="zh-TW" altLang="en-US" sz="2600" dirty="0" smtClean="0"/>
              <a:t>家的信封大小及印刷位置都不同</a:t>
            </a:r>
            <a:r>
              <a:rPr lang="zh-TW" altLang="en-US" sz="2600" dirty="0" smtClean="0"/>
              <a:t>。</a:t>
            </a:r>
            <a:endParaRPr lang="en-US" altLang="zh-TW" sz="2600" dirty="0"/>
          </a:p>
          <a:p>
            <a:pPr marL="971550" lvl="1" indent="-514350">
              <a:lnSpc>
                <a:spcPct val="120000"/>
              </a:lnSpc>
              <a:buFont typeface="+mj-lt"/>
              <a:buAutoNum type="arabicParenR"/>
            </a:pPr>
            <a:r>
              <a:rPr lang="zh-TW" altLang="en-US" sz="2600" dirty="0" smtClean="0">
                <a:solidFill>
                  <a:srgbClr val="0000FF"/>
                </a:solidFill>
              </a:rPr>
              <a:t>表格</a:t>
            </a:r>
            <a:r>
              <a:rPr lang="zh-TW" altLang="en-US" sz="2600" dirty="0" smtClean="0">
                <a:solidFill>
                  <a:srgbClr val="0000FF"/>
                </a:solidFill>
              </a:rPr>
              <a:t>套印管理系統，雖然可以完全客製化，所以要有所調整</a:t>
            </a:r>
            <a:r>
              <a:rPr lang="en-US" altLang="zh-TW" sz="2600" dirty="0" smtClean="0">
                <a:solidFill>
                  <a:srgbClr val="0000FF"/>
                </a:solidFill>
              </a:rPr>
              <a:t>(</a:t>
            </a:r>
            <a:r>
              <a:rPr lang="zh-TW" altLang="en-US" sz="2600" dirty="0" smtClean="0">
                <a:solidFill>
                  <a:srgbClr val="0000FF"/>
                </a:solidFill>
              </a:rPr>
              <a:t>可由我們代勞</a:t>
            </a:r>
            <a:r>
              <a:rPr lang="en-US" altLang="zh-TW" sz="2600" dirty="0" smtClean="0">
                <a:solidFill>
                  <a:srgbClr val="0000FF"/>
                </a:solidFill>
              </a:rPr>
              <a:t>)</a:t>
            </a:r>
            <a:r>
              <a:rPr lang="zh-TW" altLang="en-US" sz="2600" dirty="0" smtClean="0">
                <a:solidFill>
                  <a:srgbClr val="0000FF"/>
                </a:solidFill>
              </a:rPr>
              <a:t>，才能預覽及列印都達到完美</a:t>
            </a:r>
            <a:r>
              <a:rPr lang="zh-TW" altLang="en-US" sz="2600" dirty="0" smtClean="0">
                <a:solidFill>
                  <a:srgbClr val="0000FF"/>
                </a:solidFill>
              </a:rPr>
              <a:t>。</a:t>
            </a:r>
            <a:endParaRPr lang="en-US" altLang="zh-TW" sz="2600" dirty="0">
              <a:solidFill>
                <a:srgbClr val="0000FF"/>
              </a:solidFill>
            </a:endParaRPr>
          </a:p>
          <a:p>
            <a:pPr marL="971550" lvl="1" indent="-514350">
              <a:lnSpc>
                <a:spcPct val="120000"/>
              </a:lnSpc>
              <a:buFont typeface="+mj-lt"/>
              <a:buAutoNum type="arabicParenR"/>
            </a:pPr>
            <a:r>
              <a:rPr lang="zh-TW" altLang="en-US" sz="2600" dirty="0" smtClean="0">
                <a:solidFill>
                  <a:srgbClr val="0000FF"/>
                </a:solidFill>
              </a:rPr>
              <a:t>購買</a:t>
            </a:r>
            <a:r>
              <a:rPr lang="zh-TW" altLang="en-US" sz="2600" dirty="0" smtClean="0">
                <a:solidFill>
                  <a:srgbClr val="0000FF"/>
                </a:solidFill>
              </a:rPr>
              <a:t>信封時，最好能</a:t>
            </a:r>
            <a:r>
              <a:rPr lang="en-US" altLang="zh-TW" sz="2600" dirty="0" smtClean="0">
                <a:solidFill>
                  <a:srgbClr val="0000FF"/>
                </a:solidFill>
              </a:rPr>
              <a:t>1</a:t>
            </a:r>
            <a:r>
              <a:rPr lang="zh-TW" altLang="en-US" sz="2600" dirty="0" smtClean="0">
                <a:solidFill>
                  <a:srgbClr val="0000FF"/>
                </a:solidFill>
              </a:rPr>
              <a:t>次取得半年或</a:t>
            </a:r>
            <a:r>
              <a:rPr lang="en-US" altLang="zh-TW" sz="2600" dirty="0" smtClean="0">
                <a:solidFill>
                  <a:srgbClr val="0000FF"/>
                </a:solidFill>
              </a:rPr>
              <a:t>1</a:t>
            </a:r>
            <a:r>
              <a:rPr lang="zh-TW" altLang="en-US" sz="2600" dirty="0" smtClean="0">
                <a:solidFill>
                  <a:srgbClr val="0000FF"/>
                </a:solidFill>
              </a:rPr>
              <a:t>年的量，這樣才不用常常調整</a:t>
            </a:r>
            <a:r>
              <a:rPr lang="zh-TW" altLang="en-US" sz="2600" dirty="0" smtClean="0">
                <a:solidFill>
                  <a:srgbClr val="0000FF"/>
                </a:solidFill>
              </a:rPr>
              <a:t>。</a:t>
            </a:r>
            <a:endParaRPr lang="en-US" altLang="zh-TW" sz="2600" dirty="0" smtClean="0">
              <a:solidFill>
                <a:srgbClr val="0000FF"/>
              </a:solidFill>
            </a:endParaRPr>
          </a:p>
          <a:p>
            <a:pPr marL="514350" indent="-514350">
              <a:lnSpc>
                <a:spcPct val="120000"/>
              </a:lnSpc>
              <a:buFont typeface="+mj-lt"/>
              <a:buAutoNum type="arabicPeriod"/>
            </a:pPr>
            <a:r>
              <a:rPr lang="zh-TW" altLang="en-US" sz="3200" dirty="0"/>
              <a:t>決定套印內容</a:t>
            </a:r>
            <a:endParaRPr lang="en-US" altLang="zh-TW" sz="3200" dirty="0" smtClean="0"/>
          </a:p>
          <a:p>
            <a:pPr marL="971550" lvl="1" indent="-514350">
              <a:lnSpc>
                <a:spcPct val="120000"/>
              </a:lnSpc>
              <a:buFont typeface="+mj-lt"/>
              <a:buAutoNum type="arabicParenR"/>
            </a:pPr>
            <a:r>
              <a:rPr lang="zh-TW" altLang="en-US" sz="2600" dirty="0">
                <a:solidFill>
                  <a:srgbClr val="0000FF"/>
                </a:solidFill>
              </a:rPr>
              <a:t>先決條件是您要先知道自已的需求，然後用我們的軟體進行客製化調整即可。</a:t>
            </a:r>
            <a:endParaRPr lang="en-US" altLang="zh-TW" sz="2600" dirty="0">
              <a:solidFill>
                <a:srgbClr val="0000FF"/>
              </a:solidFill>
            </a:endParaRPr>
          </a:p>
          <a:p>
            <a:pPr marL="971550" lvl="1" indent="-514350">
              <a:lnSpc>
                <a:spcPct val="120000"/>
              </a:lnSpc>
              <a:buFont typeface="+mj-lt"/>
              <a:buAutoNum type="arabicParenR"/>
            </a:pPr>
            <a:r>
              <a:rPr lang="zh-TW" altLang="en-US" sz="2600" dirty="0" smtClean="0"/>
              <a:t>郵遞區號</a:t>
            </a:r>
            <a:r>
              <a:rPr lang="zh-TW" altLang="en-US" sz="2600" dirty="0" smtClean="0"/>
              <a:t>不論是</a:t>
            </a:r>
            <a:r>
              <a:rPr lang="en-US" altLang="zh-TW" sz="2600" dirty="0" smtClean="0"/>
              <a:t>3</a:t>
            </a:r>
            <a:r>
              <a:rPr lang="zh-TW" altLang="en-US" sz="2600" dirty="0" smtClean="0"/>
              <a:t>碼、</a:t>
            </a:r>
            <a:r>
              <a:rPr lang="en-US" altLang="zh-TW" sz="2600" dirty="0" smtClean="0"/>
              <a:t>5</a:t>
            </a:r>
            <a:r>
              <a:rPr lang="zh-TW" altLang="en-US" sz="2600" dirty="0" smtClean="0"/>
              <a:t>碼、</a:t>
            </a:r>
            <a:r>
              <a:rPr lang="en-US" altLang="zh-TW" sz="2600" dirty="0" smtClean="0"/>
              <a:t>6</a:t>
            </a:r>
            <a:r>
              <a:rPr lang="zh-TW" altLang="en-US" sz="2600" dirty="0" smtClean="0"/>
              <a:t>碼都能印</a:t>
            </a:r>
            <a:r>
              <a:rPr lang="zh-TW" altLang="en-US" sz="2600" dirty="0" smtClean="0"/>
              <a:t>。如果您的信封只有</a:t>
            </a:r>
            <a:r>
              <a:rPr lang="en-US" altLang="zh-TW" sz="2600" dirty="0" smtClean="0"/>
              <a:t>5</a:t>
            </a:r>
            <a:r>
              <a:rPr lang="zh-TW" altLang="en-US" sz="2600" dirty="0" smtClean="0"/>
              <a:t>碼的印刷，第</a:t>
            </a:r>
            <a:r>
              <a:rPr lang="en-US" altLang="zh-TW" sz="2600" dirty="0" smtClean="0"/>
              <a:t>6</a:t>
            </a:r>
            <a:r>
              <a:rPr lang="zh-TW" altLang="en-US" sz="2600" dirty="0" smtClean="0"/>
              <a:t>碼只要印在方框的外面即可。</a:t>
            </a:r>
            <a:endParaRPr lang="en-US" altLang="zh-TW" sz="2600" dirty="0" smtClean="0"/>
          </a:p>
          <a:p>
            <a:pPr marL="971550" lvl="1" indent="-514350">
              <a:lnSpc>
                <a:spcPct val="120000"/>
              </a:lnSpc>
              <a:buFont typeface="+mj-lt"/>
              <a:buAutoNum type="arabicParenR"/>
            </a:pPr>
            <a:r>
              <a:rPr lang="zh-TW" altLang="en-US" sz="2600" dirty="0" smtClean="0"/>
              <a:t>收件人為機關、企業時若要加上承辦人，收信單位的電話，寄件人要用室內電話或行動電話都都可以</a:t>
            </a:r>
            <a:r>
              <a:rPr lang="zh-TW" altLang="en-US" sz="2600" dirty="0" smtClean="0"/>
              <a:t>。</a:t>
            </a:r>
            <a:endParaRPr lang="en-US" altLang="zh-TW" sz="2600" dirty="0" smtClean="0"/>
          </a:p>
        </p:txBody>
      </p:sp>
      <p:sp>
        <p:nvSpPr>
          <p:cNvPr id="4" name="標題 1"/>
          <p:cNvSpPr txBox="1">
            <a:spLocks/>
          </p:cNvSpPr>
          <p:nvPr/>
        </p:nvSpPr>
        <p:spPr>
          <a:xfrm>
            <a:off x="838200" y="365125"/>
            <a:ext cx="10515600" cy="84448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zh-TW" altLang="en-US" sz="3600" dirty="0" smtClean="0"/>
              <a:t>取得要套印的信封及決定套印內容</a:t>
            </a:r>
            <a:endParaRPr lang="zh-TW" altLang="en-US" sz="3600" dirty="0"/>
          </a:p>
        </p:txBody>
      </p:sp>
      <p:sp>
        <p:nvSpPr>
          <p:cNvPr id="2" name="投影片編號版面配置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B6EF07-459A-4CB9-B1F3-0734876A23B5}" type="slidenum">
              <a:rPr lang="zh-TW" altLang="en-US" smtClean="0"/>
              <a:t>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71942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838199" y="1495424"/>
            <a:ext cx="7263063" cy="2486371"/>
          </a:xfrm>
        </p:spPr>
        <p:txBody>
          <a:bodyPr>
            <a:normAutofit fontScale="47500" lnSpcReduction="20000"/>
          </a:bodyPr>
          <a:lstStyle/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zh-TW" altLang="en-US" sz="4400" dirty="0" smtClean="0">
                <a:latin typeface="+mn-ea"/>
              </a:rPr>
              <a:t>信封的來源</a:t>
            </a:r>
            <a:endParaRPr lang="en-US" altLang="zh-TW" sz="4400" dirty="0" smtClean="0">
              <a:latin typeface="+mn-ea"/>
            </a:endParaRPr>
          </a:p>
          <a:p>
            <a:pPr marL="514350" indent="-514350">
              <a:lnSpc>
                <a:spcPct val="110000"/>
              </a:lnSpc>
              <a:spcBef>
                <a:spcPts val="0"/>
              </a:spcBef>
              <a:buFont typeface="+mj-lt"/>
              <a:buAutoNum type="arabicPeriod"/>
            </a:pPr>
            <a:r>
              <a:rPr lang="zh-TW" altLang="en-US" sz="3800" dirty="0">
                <a:latin typeface="+mn-ea"/>
              </a:rPr>
              <a:t>印刷公司的信封</a:t>
            </a:r>
            <a:r>
              <a:rPr lang="zh-TW" altLang="en-US" sz="3800" dirty="0" smtClean="0">
                <a:latin typeface="+mn-ea"/>
              </a:rPr>
              <a:t>：通常在信封的外包裝上面會有印刷公司的名子，如</a:t>
            </a:r>
            <a:r>
              <a:rPr lang="zh-TW" altLang="en-US" sz="3800" dirty="0" smtClean="0">
                <a:latin typeface="+mn-ea"/>
              </a:rPr>
              <a:t>「</a:t>
            </a:r>
            <a:r>
              <a:rPr lang="zh-TW" altLang="en-US" sz="3800" dirty="0">
                <a:latin typeface="+mn-ea"/>
              </a:rPr>
              <a:t>巨匠文具紙品</a:t>
            </a:r>
            <a:r>
              <a:rPr lang="zh-TW" altLang="en-US" sz="3800" dirty="0" smtClean="0">
                <a:latin typeface="+mn-ea"/>
              </a:rPr>
              <a:t>有限公司」</a:t>
            </a:r>
            <a:r>
              <a:rPr lang="en-US" altLang="zh-TW" sz="3800" dirty="0" smtClean="0">
                <a:latin typeface="+mn-ea"/>
              </a:rPr>
              <a:t>(</a:t>
            </a:r>
            <a:r>
              <a:rPr lang="zh-TW" altLang="en-US" sz="3800" dirty="0" smtClean="0">
                <a:latin typeface="+mn-ea"/>
              </a:rPr>
              <a:t>如右圖</a:t>
            </a:r>
            <a:r>
              <a:rPr lang="en-US" altLang="zh-TW" sz="3800" dirty="0" smtClean="0">
                <a:latin typeface="+mn-ea"/>
              </a:rPr>
              <a:t>)</a:t>
            </a:r>
            <a:r>
              <a:rPr lang="zh-TW" altLang="en-US" sz="3800" dirty="0" smtClean="0">
                <a:latin typeface="+mn-ea"/>
              </a:rPr>
              <a:t>，套印軟體會將表格代號設定為為</a:t>
            </a:r>
            <a:r>
              <a:rPr lang="zh-TW" altLang="en-US" sz="3800" dirty="0" smtClean="0">
                <a:latin typeface="+mn-ea"/>
              </a:rPr>
              <a:t>「</a:t>
            </a:r>
            <a:r>
              <a:rPr lang="en-US" altLang="zh-TW" sz="3800" dirty="0" smtClean="0">
                <a:latin typeface="+mn-ea"/>
              </a:rPr>
              <a:t>TW + </a:t>
            </a:r>
            <a:r>
              <a:rPr lang="zh-TW" altLang="en-US" sz="3800" dirty="0" smtClean="0">
                <a:latin typeface="+mn-ea"/>
              </a:rPr>
              <a:t>統一編號</a:t>
            </a:r>
            <a:r>
              <a:rPr lang="zh-TW" altLang="en-US" sz="3800" dirty="0">
                <a:latin typeface="+mn-ea"/>
              </a:rPr>
              <a:t>或公司</a:t>
            </a:r>
            <a:r>
              <a:rPr lang="zh-TW" altLang="en-US" sz="3800" dirty="0" smtClean="0">
                <a:latin typeface="+mn-ea"/>
              </a:rPr>
              <a:t>縮寫」。</a:t>
            </a:r>
            <a:endParaRPr lang="en-US" altLang="zh-TW" sz="3800" dirty="0">
              <a:latin typeface="+mn-ea"/>
            </a:endParaRPr>
          </a:p>
          <a:p>
            <a:pPr marL="514350" indent="-514350">
              <a:lnSpc>
                <a:spcPct val="110000"/>
              </a:lnSpc>
              <a:spcBef>
                <a:spcPts val="0"/>
              </a:spcBef>
              <a:buFont typeface="+mj-lt"/>
              <a:buAutoNum type="arabicPeriod"/>
            </a:pPr>
            <a:r>
              <a:rPr lang="zh-TW" altLang="en-US" sz="3800" dirty="0">
                <a:latin typeface="+mn-ea"/>
              </a:rPr>
              <a:t>客製化信封：使用者自委由印刷廠製造的</a:t>
            </a:r>
            <a:r>
              <a:rPr lang="zh-TW" altLang="en-US" sz="3800" dirty="0" smtClean="0">
                <a:latin typeface="+mn-ea"/>
              </a:rPr>
              <a:t>信封</a:t>
            </a:r>
            <a:r>
              <a:rPr lang="en-US" altLang="zh-TW" sz="3800" dirty="0" smtClean="0">
                <a:latin typeface="+mn-ea"/>
              </a:rPr>
              <a:t>(</a:t>
            </a:r>
            <a:r>
              <a:rPr lang="zh-TW" altLang="en-US" sz="3800" dirty="0" smtClean="0">
                <a:latin typeface="+mn-ea"/>
              </a:rPr>
              <a:t>如下圖</a:t>
            </a:r>
            <a:r>
              <a:rPr lang="en-US" altLang="zh-TW" sz="3800" dirty="0" smtClean="0">
                <a:latin typeface="+mn-ea"/>
              </a:rPr>
              <a:t>)</a:t>
            </a:r>
            <a:r>
              <a:rPr lang="zh-TW" altLang="en-US" sz="3800" dirty="0" smtClean="0">
                <a:latin typeface="+mn-ea"/>
              </a:rPr>
              <a:t>，表格</a:t>
            </a:r>
            <a:r>
              <a:rPr lang="zh-TW" altLang="en-US" sz="3800" dirty="0">
                <a:latin typeface="+mn-ea"/>
              </a:rPr>
              <a:t>代號為</a:t>
            </a:r>
            <a:r>
              <a:rPr lang="en-US" altLang="zh-TW" sz="3800" dirty="0">
                <a:latin typeface="+mn-ea"/>
              </a:rPr>
              <a:t>TW+</a:t>
            </a:r>
            <a:r>
              <a:rPr lang="zh-TW" altLang="en-US" sz="3800" dirty="0">
                <a:latin typeface="+mn-ea"/>
              </a:rPr>
              <a:t>統一編號或公司縮寫</a:t>
            </a:r>
            <a:r>
              <a:rPr lang="zh-TW" altLang="en-US" sz="3800" dirty="0" smtClean="0">
                <a:latin typeface="+mn-ea"/>
              </a:rPr>
              <a:t>。</a:t>
            </a:r>
            <a:endParaRPr lang="en-US" altLang="zh-TW" sz="3800" dirty="0" smtClean="0">
              <a:latin typeface="+mn-ea"/>
            </a:endParaRPr>
          </a:p>
          <a:p>
            <a:pPr marL="514350" indent="-514350">
              <a:lnSpc>
                <a:spcPct val="110000"/>
              </a:lnSpc>
              <a:spcBef>
                <a:spcPts val="0"/>
              </a:spcBef>
              <a:buFont typeface="+mj-lt"/>
              <a:buAutoNum type="arabicPeriod"/>
            </a:pPr>
            <a:r>
              <a:rPr lang="zh-TW" altLang="en-US" sz="3800" dirty="0" smtClean="0">
                <a:latin typeface="+mn-ea"/>
              </a:rPr>
              <a:t>未知來源的信封：提供的廠商眾多，因印刷格式沒有標準，無法依尺寸判定</a:t>
            </a:r>
            <a:r>
              <a:rPr lang="zh-TW" altLang="en-US" sz="3800" dirty="0">
                <a:latin typeface="+mn-ea"/>
              </a:rPr>
              <a:t>，套印設計都要重新調整</a:t>
            </a:r>
            <a:r>
              <a:rPr lang="zh-TW" altLang="en-US" sz="3800" dirty="0" smtClean="0">
                <a:latin typeface="+mn-ea"/>
              </a:rPr>
              <a:t>。</a:t>
            </a:r>
            <a:r>
              <a:rPr lang="zh-TW" altLang="en-US" sz="3800" dirty="0">
                <a:latin typeface="+mn-ea"/>
              </a:rPr>
              <a:t>表格代號為</a:t>
            </a:r>
            <a:r>
              <a:rPr lang="en-US" altLang="zh-TW" sz="3800" dirty="0">
                <a:latin typeface="+mn-ea"/>
              </a:rPr>
              <a:t>TW</a:t>
            </a:r>
            <a:r>
              <a:rPr lang="en-US" altLang="zh-TW" sz="3800" dirty="0" smtClean="0">
                <a:latin typeface="+mn-ea"/>
              </a:rPr>
              <a:t>+ 000</a:t>
            </a:r>
            <a:r>
              <a:rPr lang="zh-TW" altLang="en-US" sz="3800" dirty="0" smtClean="0">
                <a:latin typeface="+mn-ea"/>
              </a:rPr>
              <a:t>通用表格 </a:t>
            </a:r>
            <a:r>
              <a:rPr lang="en-US" altLang="zh-TW" sz="3800" dirty="0" smtClean="0">
                <a:latin typeface="+mn-ea"/>
              </a:rPr>
              <a:t>+ </a:t>
            </a:r>
            <a:r>
              <a:rPr lang="zh-TW" altLang="en-US" sz="3800" dirty="0" smtClean="0">
                <a:latin typeface="+mn-ea"/>
              </a:rPr>
              <a:t>尺寸。</a:t>
            </a:r>
            <a:endParaRPr lang="en-US" altLang="zh-TW" sz="3800" dirty="0" smtClean="0">
              <a:latin typeface="+mn-ea"/>
            </a:endParaRPr>
          </a:p>
        </p:txBody>
      </p:sp>
      <p:sp>
        <p:nvSpPr>
          <p:cNvPr id="4" name="標題 1"/>
          <p:cNvSpPr txBox="1">
            <a:spLocks/>
          </p:cNvSpPr>
          <p:nvPr/>
        </p:nvSpPr>
        <p:spPr>
          <a:xfrm>
            <a:off x="838200" y="365125"/>
            <a:ext cx="10515600" cy="84448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zh-TW" altLang="en-US" sz="3600" dirty="0" smtClean="0"/>
              <a:t>套印設計說明</a:t>
            </a:r>
            <a:r>
              <a:rPr lang="en-US" altLang="zh-TW" sz="3600" dirty="0" smtClean="0"/>
              <a:t>(1/</a:t>
            </a:r>
            <a:r>
              <a:rPr lang="en-US" altLang="zh-TW" sz="3600" dirty="0"/>
              <a:t>4</a:t>
            </a:r>
            <a:r>
              <a:rPr lang="en-US" altLang="zh-TW" sz="3600" dirty="0" smtClean="0"/>
              <a:t>)</a:t>
            </a:r>
            <a:endParaRPr lang="zh-TW" altLang="en-US" sz="3600" dirty="0"/>
          </a:p>
        </p:txBody>
      </p:sp>
      <p:sp>
        <p:nvSpPr>
          <p:cNvPr id="2" name="投影片編號版面配置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B6EF07-459A-4CB9-B1F3-0734876A23B5}" type="slidenum">
              <a:rPr lang="zh-TW" altLang="en-US" smtClean="0"/>
              <a:t>5</a:t>
            </a:fld>
            <a:endParaRPr lang="zh-TW" altLang="en-US"/>
          </a:p>
        </p:txBody>
      </p:sp>
      <p:pic>
        <p:nvPicPr>
          <p:cNvPr id="7" name="圖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1282" y="3866147"/>
            <a:ext cx="5299911" cy="2672765"/>
          </a:xfrm>
          <a:prstGeom prst="rect">
            <a:avLst/>
          </a:prstGeom>
        </p:spPr>
      </p:pic>
      <p:pic>
        <p:nvPicPr>
          <p:cNvPr id="8" name="圖片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13558" y="1325542"/>
            <a:ext cx="3140242" cy="50858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74390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838200" y="1495425"/>
            <a:ext cx="5450305" cy="5226050"/>
          </a:xfrm>
        </p:spPr>
        <p:txBody>
          <a:bodyPr>
            <a:normAutofit/>
          </a:bodyPr>
          <a:lstStyle/>
          <a:p>
            <a:pPr marL="514350" indent="-514350">
              <a:spcBef>
                <a:spcPts val="0"/>
              </a:spcBef>
              <a:buFont typeface="+mj-lt"/>
              <a:buAutoNum type="arabicPeriod"/>
            </a:pPr>
            <a:r>
              <a:rPr lang="zh-TW" altLang="en-US" sz="2400" dirty="0" smtClean="0">
                <a:latin typeface="+mn-ea"/>
              </a:rPr>
              <a:t>請優先使用</a:t>
            </a:r>
            <a:r>
              <a:rPr lang="en-US" altLang="zh-TW" sz="2400" dirty="0" smtClean="0">
                <a:latin typeface="+mn-ea"/>
              </a:rPr>
              <a:t>000</a:t>
            </a:r>
            <a:r>
              <a:rPr lang="zh-TW" altLang="en-US" sz="2400" dirty="0" smtClean="0">
                <a:latin typeface="+mn-ea"/>
              </a:rPr>
              <a:t>通用表格及印刷廠的表格來設定。</a:t>
            </a:r>
            <a:endParaRPr lang="en-US" altLang="zh-TW" sz="2400" dirty="0" smtClean="0">
              <a:latin typeface="+mn-ea"/>
            </a:endParaRPr>
          </a:p>
          <a:p>
            <a:pPr marL="514350" indent="-514350">
              <a:spcBef>
                <a:spcPts val="0"/>
              </a:spcBef>
              <a:buFont typeface="+mj-lt"/>
              <a:buAutoNum type="arabicPeriod"/>
            </a:pPr>
            <a:r>
              <a:rPr lang="zh-TW" altLang="en-US" sz="2400" dirty="0" smtClean="0">
                <a:latin typeface="+mn-ea"/>
              </a:rPr>
              <a:t>如果您使用的表格來源為</a:t>
            </a:r>
            <a:r>
              <a:rPr lang="en-US" altLang="zh-TW" sz="2400" dirty="0" smtClean="0">
                <a:latin typeface="+mn-ea"/>
              </a:rPr>
              <a:t>700</a:t>
            </a:r>
            <a:r>
              <a:rPr lang="zh-TW" altLang="en-US" sz="2400" dirty="0" smtClean="0">
                <a:latin typeface="+mn-ea"/>
              </a:rPr>
              <a:t>郵局的話，就要在基本資料新增</a:t>
            </a:r>
            <a:r>
              <a:rPr lang="en-US" altLang="zh-TW" sz="2400" dirty="0" smtClean="0">
                <a:latin typeface="+mn-ea"/>
              </a:rPr>
              <a:t>1</a:t>
            </a:r>
            <a:r>
              <a:rPr lang="zh-TW" altLang="en-US" sz="2400" dirty="0" smtClean="0">
                <a:latin typeface="+mn-ea"/>
              </a:rPr>
              <a:t>個郵局的真實或需擬帳號，這樣才可以正常套印。</a:t>
            </a:r>
            <a:endParaRPr lang="en-US" altLang="zh-TW" sz="2400" dirty="0" smtClean="0">
              <a:latin typeface="+mn-ea"/>
            </a:endParaRPr>
          </a:p>
          <a:p>
            <a:pPr marL="514350" indent="-514350">
              <a:spcBef>
                <a:spcPts val="0"/>
              </a:spcBef>
              <a:buFont typeface="+mj-lt"/>
              <a:buAutoNum type="arabicPeriod"/>
            </a:pPr>
            <a:r>
              <a:rPr lang="zh-TW" altLang="en-US" sz="2400" dirty="0" smtClean="0">
                <a:solidFill>
                  <a:srgbClr val="FF0000"/>
                </a:solidFill>
                <a:latin typeface="+mn-ea"/>
              </a:rPr>
              <a:t>未來</a:t>
            </a:r>
            <a:r>
              <a:rPr lang="zh-TW" altLang="en-US" sz="2400" dirty="0">
                <a:solidFill>
                  <a:srgbClr val="FF0000"/>
                </a:solidFill>
                <a:latin typeface="+mn-ea"/>
              </a:rPr>
              <a:t>會統一放在信封大類</a:t>
            </a:r>
            <a:r>
              <a:rPr lang="zh-TW" altLang="en-US" sz="2400" dirty="0">
                <a:latin typeface="+mn-ea"/>
              </a:rPr>
              <a:t>。</a:t>
            </a:r>
            <a:endParaRPr lang="en-US" altLang="zh-TW" sz="2400" dirty="0">
              <a:latin typeface="+mn-ea"/>
            </a:endParaRPr>
          </a:p>
          <a:p>
            <a:pPr marL="0" indent="0">
              <a:lnSpc>
                <a:spcPct val="120000"/>
              </a:lnSpc>
              <a:buNone/>
            </a:pPr>
            <a:endParaRPr lang="en-US" altLang="zh-TW" sz="3200" dirty="0" smtClean="0"/>
          </a:p>
          <a:p>
            <a:pPr marL="0" indent="0">
              <a:lnSpc>
                <a:spcPct val="120000"/>
              </a:lnSpc>
              <a:buNone/>
            </a:pPr>
            <a:endParaRPr lang="en-US" altLang="zh-TW" sz="3200" dirty="0" smtClean="0"/>
          </a:p>
        </p:txBody>
      </p:sp>
      <p:sp>
        <p:nvSpPr>
          <p:cNvPr id="4" name="標題 1"/>
          <p:cNvSpPr txBox="1">
            <a:spLocks/>
          </p:cNvSpPr>
          <p:nvPr/>
        </p:nvSpPr>
        <p:spPr>
          <a:xfrm>
            <a:off x="838200" y="365125"/>
            <a:ext cx="10515600" cy="84448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zh-TW" altLang="en-US" sz="3600" dirty="0" smtClean="0"/>
              <a:t>套印設計說明</a:t>
            </a:r>
            <a:r>
              <a:rPr lang="en-US" altLang="zh-TW" sz="3600" dirty="0" smtClean="0"/>
              <a:t>(2/4)</a:t>
            </a:r>
            <a:endParaRPr lang="zh-TW" altLang="en-US" sz="3600" dirty="0"/>
          </a:p>
        </p:txBody>
      </p:sp>
      <p:sp>
        <p:nvSpPr>
          <p:cNvPr id="2" name="投影片編號版面配置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B6EF07-459A-4CB9-B1F3-0734876A23B5}" type="slidenum">
              <a:rPr lang="zh-TW" altLang="en-US" smtClean="0"/>
              <a:t>6</a:t>
            </a:fld>
            <a:endParaRPr lang="zh-TW" altLang="en-US"/>
          </a:p>
        </p:txBody>
      </p:sp>
      <p:pic>
        <p:nvPicPr>
          <p:cNvPr id="5" name="圖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8505" y="1495425"/>
            <a:ext cx="5467350" cy="3524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01092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838200" y="1495425"/>
            <a:ext cx="10515600" cy="2643438"/>
          </a:xfrm>
        </p:spPr>
        <p:txBody>
          <a:bodyPr>
            <a:normAutofit/>
          </a:bodyPr>
          <a:lstStyle/>
          <a:p>
            <a:pPr>
              <a:lnSpc>
                <a:spcPct val="120000"/>
              </a:lnSpc>
            </a:pPr>
            <a:r>
              <a:rPr lang="zh-TW" altLang="en-US" dirty="0" smtClean="0">
                <a:latin typeface="+mn-ea"/>
              </a:rPr>
              <a:t>關鍵字查詢：當您有許多客戶，而您無法從客戶代號知道該客戶是誰，此時請於「收信人」輸入客戶的關鍵字。當關鍵字只有</a:t>
            </a:r>
            <a:r>
              <a:rPr lang="en-US" altLang="zh-TW" dirty="0" smtClean="0">
                <a:latin typeface="+mn-ea"/>
              </a:rPr>
              <a:t>1</a:t>
            </a:r>
            <a:r>
              <a:rPr lang="zh-TW" altLang="en-US" dirty="0" smtClean="0">
                <a:latin typeface="+mn-ea"/>
              </a:rPr>
              <a:t>位客戶符合時，系統就會帶出收信人的資料。收信人代號不得有資料，可以按新增鍵，以清除收信人相關資料。</a:t>
            </a:r>
            <a:endParaRPr lang="en-US" altLang="zh-TW" dirty="0" smtClean="0">
              <a:latin typeface="+mn-ea"/>
            </a:endParaRPr>
          </a:p>
        </p:txBody>
      </p:sp>
      <p:sp>
        <p:nvSpPr>
          <p:cNvPr id="4" name="標題 1"/>
          <p:cNvSpPr txBox="1">
            <a:spLocks/>
          </p:cNvSpPr>
          <p:nvPr/>
        </p:nvSpPr>
        <p:spPr>
          <a:xfrm>
            <a:off x="838200" y="365125"/>
            <a:ext cx="10515600" cy="84448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zh-TW" altLang="en-US" sz="3600" dirty="0" smtClean="0"/>
              <a:t>套印設計說明</a:t>
            </a:r>
            <a:r>
              <a:rPr lang="en-US" altLang="zh-TW" sz="3600" dirty="0" smtClean="0"/>
              <a:t>(3/4)</a:t>
            </a:r>
            <a:endParaRPr lang="zh-TW" altLang="en-US" sz="3600" dirty="0"/>
          </a:p>
        </p:txBody>
      </p:sp>
      <p:sp>
        <p:nvSpPr>
          <p:cNvPr id="2" name="投影片編號版面配置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B6EF07-459A-4CB9-B1F3-0734876A23B5}" type="slidenum">
              <a:rPr lang="zh-TW" altLang="en-US" smtClean="0"/>
              <a:t>7</a:t>
            </a:fld>
            <a:endParaRPr lang="zh-TW" altLang="en-US"/>
          </a:p>
        </p:txBody>
      </p:sp>
      <p:pic>
        <p:nvPicPr>
          <p:cNvPr id="6" name="圖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4138863"/>
            <a:ext cx="5465879" cy="18999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2968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838200" y="1495424"/>
            <a:ext cx="4808621" cy="4860925"/>
          </a:xfrm>
        </p:spPr>
        <p:txBody>
          <a:bodyPr>
            <a:normAutofit fontScale="70000" lnSpcReduction="20000"/>
          </a:bodyPr>
          <a:lstStyle/>
          <a:p>
            <a:pPr>
              <a:lnSpc>
                <a:spcPct val="120000"/>
              </a:lnSpc>
            </a:pPr>
            <a:r>
              <a:rPr lang="zh-TW" altLang="en-US" sz="3200" dirty="0" smtClean="0"/>
              <a:t>輸入住址的</a:t>
            </a:r>
            <a:r>
              <a:rPr lang="zh-TW" altLang="en-US" sz="3200" dirty="0" smtClean="0"/>
              <a:t>資料說明：</a:t>
            </a:r>
            <a:endParaRPr lang="en-US" altLang="zh-TW" sz="3200" dirty="0" smtClean="0"/>
          </a:p>
          <a:p>
            <a:pPr marL="971550" lvl="1" indent="-514350">
              <a:lnSpc>
                <a:spcPct val="120000"/>
              </a:lnSpc>
              <a:buFont typeface="+mj-lt"/>
              <a:buAutoNum type="arabicPeriod"/>
            </a:pPr>
            <a:r>
              <a:rPr lang="zh-TW" altLang="en-US" sz="2800" dirty="0" smtClean="0">
                <a:latin typeface="+mn-ea"/>
              </a:rPr>
              <a:t>地址欄位有</a:t>
            </a:r>
            <a:r>
              <a:rPr lang="en-US" altLang="zh-TW" sz="2800" dirty="0" smtClean="0">
                <a:latin typeface="+mn-ea"/>
              </a:rPr>
              <a:t>1</a:t>
            </a:r>
            <a:r>
              <a:rPr lang="zh-TW" altLang="en-US" sz="2800" dirty="0" smtClean="0">
                <a:latin typeface="+mn-ea"/>
              </a:rPr>
              <a:t>個以上的可能，請輸入明確的資料，例如「</a:t>
            </a:r>
            <a:r>
              <a:rPr lang="zh-TW" altLang="en-US" sz="2800" dirty="0" smtClean="0">
                <a:solidFill>
                  <a:srgbClr val="FF0000"/>
                </a:solidFill>
                <a:latin typeface="+mn-ea"/>
              </a:rPr>
              <a:t>縣、市</a:t>
            </a:r>
            <a:r>
              <a:rPr lang="zh-TW" altLang="en-US" sz="2800" dirty="0" smtClean="0">
                <a:latin typeface="+mn-ea"/>
              </a:rPr>
              <a:t>」、「</a:t>
            </a:r>
            <a:r>
              <a:rPr lang="zh-TW" altLang="en-US" sz="2800" dirty="0" smtClean="0">
                <a:solidFill>
                  <a:srgbClr val="FF0000"/>
                </a:solidFill>
                <a:latin typeface="+mn-ea"/>
              </a:rPr>
              <a:t>路、街</a:t>
            </a:r>
            <a:r>
              <a:rPr lang="zh-TW" altLang="en-US" sz="2800" dirty="0" smtClean="0">
                <a:latin typeface="+mn-ea"/>
              </a:rPr>
              <a:t>」</a:t>
            </a:r>
            <a:r>
              <a:rPr lang="en-US" altLang="zh-TW" sz="2800" dirty="0" smtClean="0">
                <a:latin typeface="+mn-ea"/>
              </a:rPr>
              <a:t>, </a:t>
            </a:r>
            <a:r>
              <a:rPr lang="zh-TW" altLang="en-US" sz="2800" dirty="0" smtClean="0">
                <a:latin typeface="+mn-ea"/>
              </a:rPr>
              <a:t>請連同選項一起輸入如「</a:t>
            </a:r>
            <a:r>
              <a:rPr lang="zh-TW" altLang="en-US" sz="2800" dirty="0" smtClean="0">
                <a:solidFill>
                  <a:srgbClr val="0000FF"/>
                </a:solidFill>
                <a:latin typeface="+mn-ea"/>
              </a:rPr>
              <a:t>台北市</a:t>
            </a:r>
            <a:r>
              <a:rPr lang="zh-TW" altLang="en-US" sz="2800" dirty="0" smtClean="0">
                <a:latin typeface="+mn-ea"/>
              </a:rPr>
              <a:t>」、「</a:t>
            </a:r>
            <a:r>
              <a:rPr lang="zh-TW" altLang="en-US" sz="2800" dirty="0" smtClean="0">
                <a:solidFill>
                  <a:srgbClr val="0000FF"/>
                </a:solidFill>
                <a:latin typeface="+mn-ea"/>
              </a:rPr>
              <a:t>光明路</a:t>
            </a:r>
            <a:r>
              <a:rPr lang="zh-TW" altLang="en-US" sz="2800" dirty="0" smtClean="0">
                <a:latin typeface="+mn-ea"/>
              </a:rPr>
              <a:t>」。</a:t>
            </a:r>
            <a:endParaRPr lang="en-US" altLang="zh-TW" sz="2800" dirty="0" smtClean="0">
              <a:latin typeface="+mn-ea"/>
            </a:endParaRPr>
          </a:p>
          <a:p>
            <a:pPr marL="971550" lvl="1" indent="-514350">
              <a:lnSpc>
                <a:spcPct val="120000"/>
              </a:lnSpc>
              <a:buFont typeface="+mj-lt"/>
              <a:buAutoNum type="arabicPeriod"/>
            </a:pPr>
            <a:r>
              <a:rPr lang="zh-TW" altLang="en-US" sz="2800" dirty="0" smtClean="0">
                <a:latin typeface="+mn-ea"/>
              </a:rPr>
              <a:t>地址只有</a:t>
            </a:r>
            <a:r>
              <a:rPr lang="en-US" altLang="zh-TW" sz="2800" dirty="0" smtClean="0">
                <a:latin typeface="+mn-ea"/>
              </a:rPr>
              <a:t>1</a:t>
            </a:r>
            <a:r>
              <a:rPr lang="zh-TW" altLang="en-US" sz="2800" dirty="0" smtClean="0">
                <a:latin typeface="+mn-ea"/>
              </a:rPr>
              <a:t>種選項，例如「</a:t>
            </a:r>
            <a:r>
              <a:rPr lang="zh-TW" altLang="en-US" sz="2800" dirty="0" smtClean="0">
                <a:solidFill>
                  <a:srgbClr val="FF0000"/>
                </a:solidFill>
                <a:latin typeface="+mn-ea"/>
              </a:rPr>
              <a:t>號</a:t>
            </a:r>
            <a:r>
              <a:rPr lang="zh-TW" altLang="en-US" sz="2800" dirty="0" smtClean="0">
                <a:latin typeface="+mn-ea"/>
              </a:rPr>
              <a:t>」，只要輸入幾號即可如「</a:t>
            </a:r>
            <a:r>
              <a:rPr lang="en-US" altLang="zh-TW" sz="2800" dirty="0" smtClean="0">
                <a:solidFill>
                  <a:srgbClr val="0000FF"/>
                </a:solidFill>
                <a:latin typeface="+mn-ea"/>
              </a:rPr>
              <a:t>X</a:t>
            </a:r>
            <a:r>
              <a:rPr lang="zh-TW" altLang="en-US" sz="2800" dirty="0" smtClean="0">
                <a:latin typeface="+mn-ea"/>
              </a:rPr>
              <a:t>」號。</a:t>
            </a:r>
            <a:endParaRPr lang="en-US" altLang="zh-TW" sz="2800" dirty="0" smtClean="0">
              <a:latin typeface="+mn-ea"/>
            </a:endParaRPr>
          </a:p>
          <a:p>
            <a:pPr marL="971550" lvl="1" indent="-514350">
              <a:lnSpc>
                <a:spcPct val="120000"/>
              </a:lnSpc>
              <a:buFont typeface="+mj-lt"/>
              <a:buAutoNum type="arabicPeriod"/>
            </a:pPr>
            <a:r>
              <a:rPr lang="zh-TW" altLang="en-US" sz="2800" dirty="0" smtClean="0">
                <a:latin typeface="+mn-ea"/>
              </a:rPr>
              <a:t>地址較</a:t>
            </a:r>
            <a:r>
              <a:rPr lang="zh-TW" altLang="en-US" sz="2800" b="1" dirty="0" smtClean="0">
                <a:solidFill>
                  <a:srgbClr val="FF0000"/>
                </a:solidFill>
                <a:latin typeface="+mn-ea"/>
              </a:rPr>
              <a:t>無規則</a:t>
            </a:r>
            <a:r>
              <a:rPr lang="zh-TW" altLang="en-US" sz="2800" dirty="0" smtClean="0">
                <a:latin typeface="+mn-ea"/>
              </a:rPr>
              <a:t>如「</a:t>
            </a:r>
            <a:r>
              <a:rPr lang="zh-TW" altLang="en-US" sz="2800" dirty="0" smtClean="0">
                <a:solidFill>
                  <a:srgbClr val="0000FF"/>
                </a:solidFill>
                <a:latin typeface="+mn-ea"/>
              </a:rPr>
              <a:t>生毛樹</a:t>
            </a:r>
            <a:r>
              <a:rPr lang="en-US" altLang="zh-TW" sz="2800" dirty="0" smtClean="0">
                <a:solidFill>
                  <a:srgbClr val="0000FF"/>
                </a:solidFill>
                <a:latin typeface="+mn-ea"/>
              </a:rPr>
              <a:t>X</a:t>
            </a:r>
            <a:r>
              <a:rPr lang="zh-TW" altLang="en-US" sz="2800" dirty="0" smtClean="0">
                <a:solidFill>
                  <a:srgbClr val="0000FF"/>
                </a:solidFill>
                <a:latin typeface="+mn-ea"/>
              </a:rPr>
              <a:t>號</a:t>
            </a:r>
            <a:r>
              <a:rPr lang="zh-TW" altLang="en-US" sz="2800" dirty="0" smtClean="0">
                <a:latin typeface="+mn-ea"/>
              </a:rPr>
              <a:t>」請在「</a:t>
            </a:r>
            <a:r>
              <a:rPr lang="zh-TW" altLang="en-US" sz="2800" dirty="0" smtClean="0">
                <a:solidFill>
                  <a:srgbClr val="FF0000"/>
                </a:solidFill>
                <a:latin typeface="+mn-ea"/>
              </a:rPr>
              <a:t>路、街</a:t>
            </a:r>
            <a:r>
              <a:rPr lang="zh-TW" altLang="en-US" sz="2800" dirty="0" smtClean="0">
                <a:latin typeface="+mn-ea"/>
              </a:rPr>
              <a:t>」輸入「</a:t>
            </a:r>
            <a:r>
              <a:rPr lang="zh-TW" altLang="en-US" sz="2800" dirty="0" smtClean="0">
                <a:solidFill>
                  <a:srgbClr val="0000FF"/>
                </a:solidFill>
                <a:latin typeface="+mn-ea"/>
              </a:rPr>
              <a:t>生毛樹</a:t>
            </a:r>
            <a:r>
              <a:rPr lang="zh-TW" altLang="en-US" sz="2800" dirty="0" smtClean="0">
                <a:latin typeface="+mn-ea"/>
              </a:rPr>
              <a:t>」，「</a:t>
            </a:r>
            <a:r>
              <a:rPr lang="zh-TW" altLang="en-US" sz="2800" dirty="0" smtClean="0">
                <a:solidFill>
                  <a:srgbClr val="FF0000"/>
                </a:solidFill>
                <a:latin typeface="+mn-ea"/>
              </a:rPr>
              <a:t>號</a:t>
            </a:r>
            <a:r>
              <a:rPr lang="zh-TW" altLang="en-US" sz="2800" dirty="0" smtClean="0">
                <a:latin typeface="+mn-ea"/>
              </a:rPr>
              <a:t>」輸入「</a:t>
            </a:r>
            <a:r>
              <a:rPr lang="en-US" altLang="zh-TW" sz="2800" dirty="0" smtClean="0">
                <a:solidFill>
                  <a:srgbClr val="0000FF"/>
                </a:solidFill>
                <a:latin typeface="+mn-ea"/>
              </a:rPr>
              <a:t>X</a:t>
            </a:r>
            <a:r>
              <a:rPr lang="zh-TW" altLang="en-US" sz="2800" dirty="0" smtClean="0">
                <a:latin typeface="+mn-ea"/>
              </a:rPr>
              <a:t>」即可。</a:t>
            </a:r>
            <a:endParaRPr lang="en-US" altLang="zh-TW" sz="2800" dirty="0" smtClean="0">
              <a:latin typeface="+mn-ea"/>
            </a:endParaRPr>
          </a:p>
          <a:p>
            <a:pPr marL="971550" lvl="1" indent="-514350">
              <a:lnSpc>
                <a:spcPct val="120000"/>
              </a:lnSpc>
              <a:buFont typeface="+mj-lt"/>
              <a:buAutoNum type="arabicPeriod"/>
            </a:pPr>
            <a:r>
              <a:rPr lang="zh-TW" altLang="en-US" sz="2800" dirty="0" smtClean="0">
                <a:latin typeface="+mn-ea"/>
              </a:rPr>
              <a:t>段、巷、弄、號、樓、室等項目，如果第</a:t>
            </a:r>
            <a:r>
              <a:rPr lang="en-US" altLang="zh-TW" sz="2800" dirty="0" smtClean="0">
                <a:solidFill>
                  <a:srgbClr val="0000FF"/>
                </a:solidFill>
                <a:latin typeface="+mn-ea"/>
              </a:rPr>
              <a:t>1</a:t>
            </a:r>
            <a:r>
              <a:rPr lang="zh-TW" altLang="en-US" sz="2800" dirty="0" smtClean="0">
                <a:latin typeface="+mn-ea"/>
              </a:rPr>
              <a:t>個字是</a:t>
            </a:r>
            <a:r>
              <a:rPr lang="zh-TW" altLang="en-US" sz="2800" dirty="0" smtClean="0">
                <a:solidFill>
                  <a:srgbClr val="0000FF"/>
                </a:solidFill>
                <a:latin typeface="+mn-ea"/>
              </a:rPr>
              <a:t>英數</a:t>
            </a:r>
            <a:r>
              <a:rPr lang="zh-TW" altLang="en-US" sz="2800" dirty="0" smtClean="0">
                <a:latin typeface="+mn-ea"/>
              </a:rPr>
              <a:t>字就會</a:t>
            </a:r>
            <a:r>
              <a:rPr lang="zh-TW" altLang="en-US" sz="2800" b="1" dirty="0" smtClean="0">
                <a:latin typeface="+mn-ea"/>
              </a:rPr>
              <a:t>橫印</a:t>
            </a:r>
            <a:r>
              <a:rPr lang="zh-TW" altLang="en-US" sz="2800" dirty="0" smtClean="0">
                <a:latin typeface="+mn-ea"/>
              </a:rPr>
              <a:t>，若中文、日文就會</a:t>
            </a:r>
            <a:r>
              <a:rPr lang="zh-TW" altLang="en-US" sz="2800" b="1" dirty="0" smtClean="0">
                <a:latin typeface="+mn-ea"/>
              </a:rPr>
              <a:t>直印</a:t>
            </a:r>
            <a:r>
              <a:rPr lang="zh-TW" altLang="en-US" sz="2800" dirty="0" smtClean="0">
                <a:latin typeface="+mn-ea"/>
              </a:rPr>
              <a:t>。</a:t>
            </a:r>
            <a:endParaRPr lang="zh-TW" altLang="en-US" sz="2800" dirty="0">
              <a:latin typeface="+mn-ea"/>
            </a:endParaRPr>
          </a:p>
        </p:txBody>
      </p:sp>
      <p:sp>
        <p:nvSpPr>
          <p:cNvPr id="4" name="標題 1"/>
          <p:cNvSpPr txBox="1">
            <a:spLocks/>
          </p:cNvSpPr>
          <p:nvPr/>
        </p:nvSpPr>
        <p:spPr>
          <a:xfrm>
            <a:off x="838200" y="365125"/>
            <a:ext cx="10515600" cy="84448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zh-TW" altLang="en-US" sz="3600" dirty="0" smtClean="0"/>
              <a:t>套印設計說明</a:t>
            </a:r>
            <a:r>
              <a:rPr lang="en-US" altLang="zh-TW" sz="3600" dirty="0" smtClean="0"/>
              <a:t>(</a:t>
            </a:r>
            <a:r>
              <a:rPr lang="en-US" altLang="zh-TW" sz="3600" dirty="0" smtClean="0"/>
              <a:t>4/4)</a:t>
            </a:r>
            <a:endParaRPr lang="zh-TW" altLang="en-US" sz="3600" dirty="0"/>
          </a:p>
        </p:txBody>
      </p:sp>
      <p:sp>
        <p:nvSpPr>
          <p:cNvPr id="2" name="投影片編號版面配置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B6EF07-459A-4CB9-B1F3-0734876A23B5}" type="slidenum">
              <a:rPr lang="zh-TW" altLang="en-US" smtClean="0"/>
              <a:t>8</a:t>
            </a:fld>
            <a:endParaRPr lang="zh-TW" altLang="en-US" dirty="0"/>
          </a:p>
        </p:txBody>
      </p:sp>
      <p:pic>
        <p:nvPicPr>
          <p:cNvPr id="5" name="圖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43587" y="1646571"/>
            <a:ext cx="5534025" cy="3629025"/>
          </a:xfrm>
          <a:prstGeom prst="rect">
            <a:avLst/>
          </a:prstGeom>
        </p:spPr>
      </p:pic>
      <p:sp>
        <p:nvSpPr>
          <p:cNvPr id="6" name="文字方塊 5"/>
          <p:cNvSpPr txBox="1"/>
          <p:nvPr/>
        </p:nvSpPr>
        <p:spPr>
          <a:xfrm>
            <a:off x="4744543" y="5856334"/>
            <a:ext cx="415637" cy="923330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zh-TW" altLang="en-US" dirty="0" smtClean="0">
                <a:solidFill>
                  <a:srgbClr val="0000FF"/>
                </a:solidFill>
              </a:rPr>
              <a:t>中文巷</a:t>
            </a:r>
            <a:endParaRPr lang="zh-TW" altLang="en-US" dirty="0">
              <a:solidFill>
                <a:srgbClr val="0000FF"/>
              </a:solidFill>
            </a:endParaRPr>
          </a:p>
        </p:txBody>
      </p:sp>
      <p:sp>
        <p:nvSpPr>
          <p:cNvPr id="7" name="文字方塊 6"/>
          <p:cNvSpPr txBox="1"/>
          <p:nvPr/>
        </p:nvSpPr>
        <p:spPr>
          <a:xfrm>
            <a:off x="5926714" y="5710018"/>
            <a:ext cx="422163" cy="646331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altLang="zh-TW" dirty="0" smtClean="0">
                <a:solidFill>
                  <a:srgbClr val="0000FF"/>
                </a:solidFill>
              </a:rPr>
              <a:t>36</a:t>
            </a:r>
            <a:r>
              <a:rPr lang="zh-TW" altLang="en-US" dirty="0" smtClean="0">
                <a:solidFill>
                  <a:srgbClr val="0000FF"/>
                </a:solidFill>
              </a:rPr>
              <a:t>巷</a:t>
            </a:r>
            <a:endParaRPr lang="zh-TW" altLang="en-US" dirty="0">
              <a:solidFill>
                <a:srgbClr val="0000FF"/>
              </a:solidFill>
            </a:endParaRPr>
          </a:p>
        </p:txBody>
      </p:sp>
      <p:cxnSp>
        <p:nvCxnSpPr>
          <p:cNvPr id="9" name="直線單箭頭接點 8"/>
          <p:cNvCxnSpPr>
            <a:endCxn id="7" idx="1"/>
          </p:cNvCxnSpPr>
          <p:nvPr/>
        </p:nvCxnSpPr>
        <p:spPr>
          <a:xfrm>
            <a:off x="4023360" y="5726194"/>
            <a:ext cx="1903354" cy="30699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線單箭頭接點 10"/>
          <p:cNvCxnSpPr/>
          <p:nvPr/>
        </p:nvCxnSpPr>
        <p:spPr>
          <a:xfrm>
            <a:off x="2734887" y="6109855"/>
            <a:ext cx="1903615" cy="429057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160206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1"/>
          <p:cNvSpPr txBox="1">
            <a:spLocks/>
          </p:cNvSpPr>
          <p:nvPr/>
        </p:nvSpPr>
        <p:spPr>
          <a:xfrm>
            <a:off x="838200" y="365125"/>
            <a:ext cx="5771147" cy="84448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zh-TW" altLang="en-US" sz="3600" dirty="0" smtClean="0"/>
              <a:t>最終套印結果</a:t>
            </a:r>
            <a:endParaRPr lang="zh-TW" altLang="en-US" sz="3600" dirty="0"/>
          </a:p>
        </p:txBody>
      </p:sp>
      <p:sp>
        <p:nvSpPr>
          <p:cNvPr id="2" name="投影片編號版面配置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B6EF07-459A-4CB9-B1F3-0734876A23B5}" type="slidenum">
              <a:rPr lang="zh-TW" altLang="en-US" smtClean="0"/>
              <a:t>9</a:t>
            </a:fld>
            <a:endParaRPr lang="zh-TW" altLang="en-US"/>
          </a:p>
        </p:txBody>
      </p:sp>
      <p:pic>
        <p:nvPicPr>
          <p:cNvPr id="6" name="圖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15153" y="365125"/>
            <a:ext cx="3757384" cy="6356350"/>
          </a:xfrm>
          <a:prstGeom prst="rect">
            <a:avLst/>
          </a:prstGeom>
        </p:spPr>
      </p:pic>
      <p:sp>
        <p:nvSpPr>
          <p:cNvPr id="7" name="內容版面配置區 2"/>
          <p:cNvSpPr>
            <a:spLocks noGrp="1"/>
          </p:cNvSpPr>
          <p:nvPr>
            <p:ph idx="1"/>
          </p:nvPr>
        </p:nvSpPr>
        <p:spPr>
          <a:xfrm>
            <a:off x="838200" y="1495424"/>
            <a:ext cx="4808621" cy="4860925"/>
          </a:xfrm>
        </p:spPr>
        <p:txBody>
          <a:bodyPr>
            <a:normAutofit fontScale="62500" lnSpcReduction="20000"/>
          </a:bodyPr>
          <a:lstStyle/>
          <a:p>
            <a:pPr marL="514350" indent="-514350">
              <a:lnSpc>
                <a:spcPct val="110000"/>
              </a:lnSpc>
              <a:buFont typeface="+mj-lt"/>
              <a:buAutoNum type="arabicPeriod"/>
            </a:pPr>
            <a:r>
              <a:rPr lang="zh-TW" altLang="en-US" sz="3200" dirty="0" smtClean="0"/>
              <a:t>漂亮吧</a:t>
            </a:r>
            <a:r>
              <a:rPr lang="en-US" altLang="zh-TW" sz="3200" dirty="0" smtClean="0"/>
              <a:t>!</a:t>
            </a:r>
            <a:r>
              <a:rPr lang="zh-TW" altLang="en-US" sz="3200" dirty="0" smtClean="0"/>
              <a:t>您套印出來的結果有跟右圖一樣嗎</a:t>
            </a:r>
            <a:r>
              <a:rPr lang="en-US" altLang="zh-TW" sz="3200" dirty="0" smtClean="0"/>
              <a:t>?</a:t>
            </a:r>
          </a:p>
          <a:p>
            <a:pPr marL="514350" indent="-514350">
              <a:lnSpc>
                <a:spcPct val="110000"/>
              </a:lnSpc>
              <a:buFont typeface="+mj-lt"/>
              <a:buAutoNum type="arabicPeriod"/>
            </a:pPr>
            <a:r>
              <a:rPr lang="zh-TW" altLang="zh-TW" sz="2600" b="1" dirty="0">
                <a:latin typeface="+mn-ea"/>
              </a:rPr>
              <a:t>沒有規則的偏移</a:t>
            </a:r>
            <a:r>
              <a:rPr lang="zh-TW" altLang="zh-TW" sz="2600" dirty="0" smtClean="0">
                <a:latin typeface="+mn-ea"/>
              </a:rPr>
              <a:t>：</a:t>
            </a:r>
            <a:endParaRPr lang="en-US" altLang="zh-TW" sz="2600" dirty="0" smtClean="0">
              <a:latin typeface="+mn-ea"/>
            </a:endParaRPr>
          </a:p>
          <a:p>
            <a:pPr marL="0" indent="0">
              <a:lnSpc>
                <a:spcPct val="110000"/>
              </a:lnSpc>
              <a:buNone/>
            </a:pPr>
            <a:r>
              <a:rPr lang="zh-TW" altLang="en-US" sz="2600" dirty="0" smtClean="0">
                <a:latin typeface="+mn-ea"/>
              </a:rPr>
              <a:t>　　</a:t>
            </a:r>
            <a:r>
              <a:rPr lang="zh-TW" altLang="zh-TW" sz="2600" dirty="0" smtClean="0">
                <a:latin typeface="+mn-ea"/>
              </a:rPr>
              <a:t>列印</a:t>
            </a:r>
            <a:r>
              <a:rPr lang="zh-TW" altLang="zh-TW" sz="2600" dirty="0">
                <a:latin typeface="+mn-ea"/>
              </a:rPr>
              <a:t>出來的資料呈現沒有規則</a:t>
            </a:r>
            <a:r>
              <a:rPr lang="zh-TW" altLang="zh-TW" sz="2600" dirty="0" smtClean="0">
                <a:latin typeface="+mn-ea"/>
              </a:rPr>
              <a:t>的</a:t>
            </a:r>
            <a:r>
              <a:rPr lang="zh-TW" altLang="en-US" sz="2600" dirty="0" smtClean="0">
                <a:latin typeface="+mn-ea"/>
              </a:rPr>
              <a:t>　</a:t>
            </a:r>
            <a:r>
              <a:rPr lang="zh-TW" altLang="zh-TW" sz="2600" dirty="0" smtClean="0">
                <a:latin typeface="+mn-ea"/>
              </a:rPr>
              <a:t>偏移</a:t>
            </a:r>
            <a:r>
              <a:rPr lang="zh-TW" altLang="zh-TW" sz="2600" dirty="0">
                <a:latin typeface="+mn-ea"/>
              </a:rPr>
              <a:t>，</a:t>
            </a:r>
            <a:r>
              <a:rPr lang="zh-TW" altLang="en-US" sz="2600" dirty="0">
                <a:latin typeface="+mn-ea"/>
              </a:rPr>
              <a:t>是</a:t>
            </a:r>
            <a:r>
              <a:rPr lang="zh-TW" altLang="en-US" sz="2600" dirty="0" smtClean="0">
                <a:latin typeface="+mn-ea"/>
              </a:rPr>
              <a:t>因為信封印刷或尺寸與我提供的版本不同，</a:t>
            </a:r>
            <a:r>
              <a:rPr lang="zh-TW" altLang="zh-TW" sz="2600" dirty="0">
                <a:latin typeface="+mn-ea"/>
              </a:rPr>
              <a:t>請</a:t>
            </a:r>
            <a:r>
              <a:rPr lang="zh-TW" altLang="zh-TW" sz="2600" dirty="0" smtClean="0">
                <a:latin typeface="+mn-ea"/>
              </a:rPr>
              <a:t>依</a:t>
            </a:r>
            <a:r>
              <a:rPr lang="zh-TW" altLang="en-US" sz="2600" dirty="0" smtClean="0">
                <a:latin typeface="+mn-ea"/>
              </a:rPr>
              <a:t>　</a:t>
            </a:r>
            <a:r>
              <a:rPr lang="zh-TW" altLang="zh-TW" sz="2600" dirty="0" smtClean="0">
                <a:latin typeface="+mn-ea"/>
              </a:rPr>
              <a:t>下列</a:t>
            </a:r>
            <a:r>
              <a:rPr lang="zh-TW" altLang="zh-TW" sz="2600" dirty="0">
                <a:latin typeface="+mn-ea"/>
              </a:rPr>
              <a:t>說明處理：</a:t>
            </a:r>
            <a:endParaRPr lang="en-US" altLang="zh-TW" sz="2600" dirty="0">
              <a:latin typeface="+mn-ea"/>
            </a:endParaRPr>
          </a:p>
          <a:p>
            <a:pPr marL="971550" lvl="1" indent="-514350">
              <a:lnSpc>
                <a:spcPct val="110000"/>
              </a:lnSpc>
              <a:buFont typeface="+mj-lt"/>
              <a:buAutoNum type="arabicParenR"/>
            </a:pPr>
            <a:r>
              <a:rPr lang="zh-TW" altLang="zh-TW" sz="2600" dirty="0" smtClean="0">
                <a:latin typeface="+mn-ea"/>
              </a:rPr>
              <a:t>將</a:t>
            </a:r>
            <a:r>
              <a:rPr lang="zh-TW" altLang="en-US" sz="2600" dirty="0" smtClean="0">
                <a:latin typeface="+mn-ea"/>
              </a:rPr>
              <a:t>信封</a:t>
            </a:r>
            <a:r>
              <a:rPr lang="zh-TW" altLang="zh-TW" sz="2600" dirty="0" smtClean="0">
                <a:latin typeface="+mn-ea"/>
              </a:rPr>
              <a:t>以</a:t>
            </a:r>
            <a:r>
              <a:rPr lang="zh-TW" altLang="zh-TW" sz="2600" dirty="0">
                <a:latin typeface="+mn-ea"/>
              </a:rPr>
              <a:t>最清楚的方式掃描成檔案</a:t>
            </a:r>
            <a:r>
              <a:rPr lang="en-US" altLang="zh-TW" sz="2600" dirty="0">
                <a:latin typeface="+mn-ea"/>
              </a:rPr>
              <a:t>(</a:t>
            </a:r>
            <a:r>
              <a:rPr lang="zh-TW" altLang="zh-TW" sz="2600" dirty="0">
                <a:latin typeface="+mn-ea"/>
              </a:rPr>
              <a:t>如</a:t>
            </a:r>
            <a:r>
              <a:rPr lang="en-US" altLang="zh-TW" sz="2600" dirty="0" err="1">
                <a:solidFill>
                  <a:srgbClr val="0000FF"/>
                </a:solidFill>
                <a:latin typeface="+mn-ea"/>
              </a:rPr>
              <a:t>png</a:t>
            </a:r>
            <a:r>
              <a:rPr lang="zh-TW" altLang="zh-TW" sz="2600" dirty="0">
                <a:solidFill>
                  <a:srgbClr val="0000FF"/>
                </a:solidFill>
                <a:latin typeface="+mn-ea"/>
              </a:rPr>
              <a:t>圖檔</a:t>
            </a:r>
            <a:r>
              <a:rPr lang="zh-TW" altLang="zh-TW" sz="2600" dirty="0">
                <a:latin typeface="+mn-ea"/>
              </a:rPr>
              <a:t>、</a:t>
            </a:r>
            <a:r>
              <a:rPr lang="en-US" altLang="zh-TW" sz="2600" dirty="0">
                <a:latin typeface="+mn-ea"/>
              </a:rPr>
              <a:t>pdf</a:t>
            </a:r>
            <a:r>
              <a:rPr lang="zh-TW" altLang="zh-TW" sz="2600" dirty="0">
                <a:latin typeface="+mn-ea"/>
              </a:rPr>
              <a:t>檔</a:t>
            </a:r>
            <a:r>
              <a:rPr lang="en-US" altLang="zh-TW" sz="2600" dirty="0">
                <a:latin typeface="+mn-ea"/>
              </a:rPr>
              <a:t>)</a:t>
            </a:r>
            <a:r>
              <a:rPr lang="zh-TW" altLang="zh-TW" sz="2600" dirty="0">
                <a:latin typeface="+mn-ea"/>
              </a:rPr>
              <a:t>，掃描要清楚、避免歪斜、掃描時請</a:t>
            </a:r>
            <a:r>
              <a:rPr lang="zh-TW" altLang="zh-TW" sz="2600" dirty="0">
                <a:solidFill>
                  <a:srgbClr val="0000FF"/>
                </a:solidFill>
                <a:latin typeface="+mn-ea"/>
              </a:rPr>
              <a:t>在表格背面放一張</a:t>
            </a:r>
            <a:r>
              <a:rPr lang="zh-TW" altLang="zh-TW" sz="2600" dirty="0">
                <a:solidFill>
                  <a:srgbClr val="FF0000"/>
                </a:solidFill>
                <a:latin typeface="+mn-ea"/>
              </a:rPr>
              <a:t>色紙</a:t>
            </a:r>
            <a:r>
              <a:rPr lang="zh-TW" altLang="zh-TW" sz="2600" dirty="0">
                <a:latin typeface="+mn-ea"/>
              </a:rPr>
              <a:t>，以利剪裁。</a:t>
            </a:r>
          </a:p>
          <a:p>
            <a:pPr marL="971550" lvl="1" indent="-514350">
              <a:lnSpc>
                <a:spcPct val="110000"/>
              </a:lnSpc>
              <a:buFont typeface="+mj-lt"/>
              <a:buAutoNum type="arabicParenR"/>
            </a:pPr>
            <a:r>
              <a:rPr lang="zh-TW" altLang="zh-TW" sz="2600" dirty="0">
                <a:latin typeface="+mn-ea"/>
              </a:rPr>
              <a:t>將掃描後</a:t>
            </a:r>
            <a:r>
              <a:rPr lang="zh-TW" altLang="zh-TW" sz="2600" dirty="0" smtClean="0">
                <a:latin typeface="+mn-ea"/>
              </a:rPr>
              <a:t>的</a:t>
            </a:r>
            <a:r>
              <a:rPr lang="zh-TW" altLang="en-US" sz="2600" dirty="0" smtClean="0">
                <a:latin typeface="+mn-ea"/>
              </a:rPr>
              <a:t>信封</a:t>
            </a:r>
            <a:r>
              <a:rPr lang="zh-TW" altLang="zh-TW" sz="2600" dirty="0" smtClean="0">
                <a:latin typeface="+mn-ea"/>
              </a:rPr>
              <a:t>檔案</a:t>
            </a:r>
            <a:r>
              <a:rPr lang="zh-TW" altLang="zh-TW" sz="2600" dirty="0">
                <a:latin typeface="+mn-ea"/>
              </a:rPr>
              <a:t>提供給</a:t>
            </a:r>
            <a:r>
              <a:rPr lang="zh-TW" altLang="zh-TW" sz="2600" dirty="0" smtClean="0">
                <a:latin typeface="+mn-ea"/>
              </a:rPr>
              <a:t>我們</a:t>
            </a:r>
            <a:r>
              <a:rPr lang="zh-TW" altLang="en-US" sz="2600" dirty="0" smtClean="0">
                <a:latin typeface="+mn-ea"/>
              </a:rPr>
              <a:t>，並請一併告知信封的來源及印刷廠的名子。</a:t>
            </a:r>
            <a:endParaRPr lang="zh-TW" altLang="zh-TW" sz="2600" dirty="0">
              <a:latin typeface="+mn-ea"/>
            </a:endParaRPr>
          </a:p>
          <a:p>
            <a:pPr marL="971550" lvl="1" indent="-514350">
              <a:lnSpc>
                <a:spcPct val="110000"/>
              </a:lnSpc>
              <a:buFont typeface="+mj-lt"/>
              <a:buAutoNum type="arabicParenR"/>
            </a:pPr>
            <a:r>
              <a:rPr lang="zh-TW" altLang="zh-TW" sz="2600" dirty="0">
                <a:solidFill>
                  <a:srgbClr val="FF0000"/>
                </a:solidFill>
                <a:latin typeface="+mn-ea"/>
              </a:rPr>
              <a:t>用尺</a:t>
            </a:r>
            <a:r>
              <a:rPr lang="zh-TW" altLang="zh-TW" sz="2600" dirty="0" smtClean="0">
                <a:solidFill>
                  <a:srgbClr val="FF0000"/>
                </a:solidFill>
                <a:latin typeface="+mn-ea"/>
              </a:rPr>
              <a:t>量</a:t>
            </a:r>
            <a:r>
              <a:rPr lang="zh-TW" altLang="en-US" sz="2600" dirty="0" smtClean="0">
                <a:solidFill>
                  <a:srgbClr val="FF0000"/>
                </a:solidFill>
                <a:latin typeface="+mn-ea"/>
              </a:rPr>
              <a:t>信封</a:t>
            </a:r>
            <a:r>
              <a:rPr lang="zh-TW" altLang="zh-TW" sz="2600" dirty="0" smtClean="0">
                <a:latin typeface="+mn-ea"/>
              </a:rPr>
              <a:t>的</a:t>
            </a:r>
            <a:r>
              <a:rPr lang="zh-TW" altLang="zh-TW" sz="2600" dirty="0" smtClean="0">
                <a:solidFill>
                  <a:srgbClr val="0000FF"/>
                </a:solidFill>
                <a:latin typeface="+mn-ea"/>
              </a:rPr>
              <a:t>長</a:t>
            </a:r>
            <a:r>
              <a:rPr lang="zh-TW" altLang="en-US" sz="2600" dirty="0" smtClean="0">
                <a:solidFill>
                  <a:srgbClr val="0000FF"/>
                </a:solidFill>
                <a:latin typeface="+mn-ea"/>
              </a:rPr>
              <a:t>（含黏貼處）</a:t>
            </a:r>
            <a:r>
              <a:rPr lang="zh-TW" altLang="en-US" sz="2600" dirty="0" smtClean="0">
                <a:latin typeface="+mn-ea"/>
              </a:rPr>
              <a:t>、</a:t>
            </a:r>
            <a:r>
              <a:rPr lang="zh-TW" altLang="zh-TW" sz="2600" dirty="0">
                <a:solidFill>
                  <a:srgbClr val="0000FF"/>
                </a:solidFill>
                <a:latin typeface="+mn-ea"/>
              </a:rPr>
              <a:t>寬</a:t>
            </a:r>
            <a:r>
              <a:rPr lang="zh-TW" altLang="zh-TW" sz="2600" dirty="0">
                <a:latin typeface="+mn-ea"/>
              </a:rPr>
              <a:t>資料，提供</a:t>
            </a:r>
            <a:r>
              <a:rPr lang="zh-TW" altLang="zh-TW" sz="2600" dirty="0">
                <a:solidFill>
                  <a:srgbClr val="FF0000"/>
                </a:solidFill>
                <a:latin typeface="+mn-ea"/>
              </a:rPr>
              <a:t>精確</a:t>
            </a:r>
            <a:r>
              <a:rPr lang="zh-TW" altLang="zh-TW" sz="2600" dirty="0">
                <a:latin typeface="+mn-ea"/>
              </a:rPr>
              <a:t>的尺寸</a:t>
            </a:r>
            <a:r>
              <a:rPr lang="zh-TW" altLang="zh-TW" sz="2600" dirty="0" smtClean="0">
                <a:latin typeface="+mn-ea"/>
              </a:rPr>
              <a:t>。</a:t>
            </a:r>
            <a:endParaRPr lang="en-US" altLang="zh-TW" sz="2600" dirty="0" smtClean="0">
              <a:latin typeface="+mn-ea"/>
            </a:endParaRPr>
          </a:p>
          <a:p>
            <a:pPr marL="0" indent="0">
              <a:lnSpc>
                <a:spcPct val="110000"/>
              </a:lnSpc>
              <a:buNone/>
            </a:pPr>
            <a:r>
              <a:rPr lang="zh-TW" altLang="zh-TW" sz="3200" b="1" dirty="0">
                <a:latin typeface="+mn-ea"/>
              </a:rPr>
              <a:t>備註：</a:t>
            </a:r>
            <a:r>
              <a:rPr lang="zh-TW" altLang="zh-TW" sz="3200" dirty="0">
                <a:latin typeface="+mn-ea"/>
              </a:rPr>
              <a:t>尺寸單位為</a:t>
            </a:r>
            <a:r>
              <a:rPr lang="zh-TW" altLang="zh-TW" sz="3200" dirty="0">
                <a:solidFill>
                  <a:srgbClr val="0000FF"/>
                </a:solidFill>
                <a:latin typeface="+mn-ea"/>
              </a:rPr>
              <a:t>公制</a:t>
            </a:r>
            <a:r>
              <a:rPr lang="en-US" altLang="zh-TW" sz="3200" dirty="0">
                <a:solidFill>
                  <a:srgbClr val="0000FF"/>
                </a:solidFill>
                <a:latin typeface="+mn-ea"/>
              </a:rPr>
              <a:t>mm</a:t>
            </a:r>
            <a:r>
              <a:rPr lang="en-US" altLang="zh-TW" sz="3200" dirty="0">
                <a:latin typeface="+mn-ea"/>
              </a:rPr>
              <a:t>(1</a:t>
            </a:r>
            <a:r>
              <a:rPr lang="zh-TW" altLang="zh-TW" sz="3200" dirty="0">
                <a:latin typeface="+mn-ea"/>
              </a:rPr>
              <a:t>公分</a:t>
            </a:r>
            <a:r>
              <a:rPr lang="en-US" altLang="zh-TW" sz="3200" dirty="0">
                <a:latin typeface="+mn-ea"/>
              </a:rPr>
              <a:t>=10mm)</a:t>
            </a:r>
            <a:r>
              <a:rPr lang="zh-TW" altLang="zh-TW" sz="3200" dirty="0">
                <a:latin typeface="+mn-ea"/>
              </a:rPr>
              <a:t>，例如寬</a:t>
            </a:r>
            <a:r>
              <a:rPr lang="en-US" altLang="zh-TW" sz="3200" dirty="0">
                <a:latin typeface="+mn-ea"/>
              </a:rPr>
              <a:t>228mm</a:t>
            </a:r>
            <a:r>
              <a:rPr lang="zh-TW" altLang="zh-TW" sz="3200" dirty="0">
                <a:latin typeface="+mn-ea"/>
              </a:rPr>
              <a:t>、長</a:t>
            </a:r>
            <a:r>
              <a:rPr lang="en-US" altLang="zh-TW" sz="3200" dirty="0">
                <a:latin typeface="+mn-ea"/>
              </a:rPr>
              <a:t>(</a:t>
            </a:r>
            <a:r>
              <a:rPr lang="zh-TW" altLang="zh-TW" sz="3200" dirty="0">
                <a:latin typeface="+mn-ea"/>
              </a:rPr>
              <a:t>高</a:t>
            </a:r>
            <a:r>
              <a:rPr lang="en-US" altLang="zh-TW" sz="3200" dirty="0">
                <a:latin typeface="+mn-ea"/>
              </a:rPr>
              <a:t>)84.6mm</a:t>
            </a:r>
            <a:r>
              <a:rPr lang="zh-TW" altLang="zh-TW" sz="3200" dirty="0">
                <a:latin typeface="+mn-ea"/>
              </a:rPr>
              <a:t>。</a:t>
            </a:r>
          </a:p>
          <a:p>
            <a:pPr marL="0" indent="0">
              <a:lnSpc>
                <a:spcPct val="110000"/>
              </a:lnSpc>
              <a:buNone/>
            </a:pPr>
            <a:endParaRPr lang="zh-TW" altLang="zh-TW" sz="3000" dirty="0">
              <a:latin typeface="+mn-ea"/>
            </a:endParaRPr>
          </a:p>
        </p:txBody>
      </p:sp>
      <p:cxnSp>
        <p:nvCxnSpPr>
          <p:cNvPr id="8" name="直線接點 7"/>
          <p:cNvCxnSpPr/>
          <p:nvPr/>
        </p:nvCxnSpPr>
        <p:spPr>
          <a:xfrm>
            <a:off x="10872537" y="365125"/>
            <a:ext cx="481263" cy="0"/>
          </a:xfrm>
          <a:prstGeom prst="line">
            <a:avLst/>
          </a:prstGeom>
          <a:ln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線接點 11"/>
          <p:cNvCxnSpPr/>
          <p:nvPr/>
        </p:nvCxnSpPr>
        <p:spPr>
          <a:xfrm>
            <a:off x="11105047" y="365125"/>
            <a:ext cx="8121" cy="422244"/>
          </a:xfrm>
          <a:prstGeom prst="line">
            <a:avLst/>
          </a:prstGeom>
          <a:ln w="31750">
            <a:solidFill>
              <a:srgbClr val="FF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線接點 15"/>
          <p:cNvCxnSpPr/>
          <p:nvPr/>
        </p:nvCxnSpPr>
        <p:spPr>
          <a:xfrm>
            <a:off x="7115153" y="787369"/>
            <a:ext cx="4406287" cy="0"/>
          </a:xfrm>
          <a:prstGeom prst="line">
            <a:avLst/>
          </a:prstGeom>
          <a:ln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矩形 17"/>
          <p:cNvSpPr/>
          <p:nvPr/>
        </p:nvSpPr>
        <p:spPr>
          <a:xfrm>
            <a:off x="11242687" y="362742"/>
            <a:ext cx="711187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TW" altLang="en-US" sz="1200" b="1" dirty="0">
                <a:solidFill>
                  <a:srgbClr val="0000FF"/>
                </a:solidFill>
              </a:rPr>
              <a:t>這一段也要量</a:t>
            </a:r>
            <a:endParaRPr lang="zh-TW" altLang="en-US" sz="1200" b="1" dirty="0">
              <a:solidFill>
                <a:srgbClr val="0000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767705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838200" y="1495424"/>
            <a:ext cx="10515600" cy="5038379"/>
          </a:xfrm>
        </p:spPr>
        <p:txBody>
          <a:bodyPr>
            <a:normAutofit/>
          </a:bodyPr>
          <a:lstStyle/>
          <a:p>
            <a:r>
              <a:rPr lang="zh-TW" altLang="en-US" b="1" dirty="0" smtClean="0"/>
              <a:t>真的</a:t>
            </a:r>
            <a:r>
              <a:rPr lang="en-US" altLang="zh-TW" b="1" dirty="0" smtClean="0"/>
              <a:t>!</a:t>
            </a:r>
            <a:r>
              <a:rPr lang="zh-TW" altLang="en-US" b="1" dirty="0" smtClean="0"/>
              <a:t>您</a:t>
            </a:r>
            <a:r>
              <a:rPr lang="zh-TW" altLang="en-US" b="1" dirty="0"/>
              <a:t>不用再為了各種不同的表格套印問題，而不斷的尋找、添購一堆套印</a:t>
            </a:r>
            <a:r>
              <a:rPr lang="zh-TW" altLang="en-US" b="1" dirty="0" smtClean="0"/>
              <a:t>軟體，「</a:t>
            </a:r>
            <a:r>
              <a:rPr lang="zh-TW" altLang="en-US" b="1" dirty="0"/>
              <a:t>表格套印管理系統」</a:t>
            </a:r>
            <a:r>
              <a:rPr lang="en-US" altLang="zh-TW" b="1" dirty="0"/>
              <a:t>(</a:t>
            </a:r>
            <a:r>
              <a:rPr lang="en-US" altLang="zh-TW" b="1" dirty="0" err="1"/>
              <a:t>FormPrint</a:t>
            </a:r>
            <a:r>
              <a:rPr lang="en-US" altLang="zh-TW" b="1" dirty="0"/>
              <a:t>)</a:t>
            </a:r>
            <a:r>
              <a:rPr lang="zh-TW" altLang="en-US" b="1" dirty="0"/>
              <a:t>一套就能</a:t>
            </a:r>
            <a:r>
              <a:rPr lang="zh-TW" altLang="en-US" b="1" dirty="0" smtClean="0"/>
              <a:t>解決所有</a:t>
            </a:r>
            <a:r>
              <a:rPr lang="zh-TW" altLang="en-US" b="1" dirty="0"/>
              <a:t>的套印</a:t>
            </a:r>
            <a:r>
              <a:rPr lang="zh-TW" altLang="en-US" b="1" dirty="0" smtClean="0"/>
              <a:t>問題，如果您有任何套印相關的問題，都歡迎與我們聯絡。</a:t>
            </a:r>
            <a:endParaRPr lang="zh-TW" altLang="zh-TW" sz="2400" dirty="0"/>
          </a:p>
          <a:p>
            <a:r>
              <a:rPr lang="zh-TW" altLang="en-US" dirty="0" smtClean="0"/>
              <a:t>聯絡方式：</a:t>
            </a:r>
            <a:endParaRPr lang="en-US" altLang="zh-TW" dirty="0" smtClean="0"/>
          </a:p>
          <a:p>
            <a:pPr lvl="1"/>
            <a:r>
              <a:rPr lang="zh-TW" altLang="zh-TW" dirty="0" smtClean="0"/>
              <a:t>聯絡人</a:t>
            </a:r>
            <a:r>
              <a:rPr lang="en-US" altLang="zh-TW" dirty="0" smtClean="0"/>
              <a:t>    </a:t>
            </a:r>
            <a:r>
              <a:rPr lang="zh-TW" altLang="zh-TW" dirty="0" smtClean="0"/>
              <a:t>：</a:t>
            </a:r>
            <a:r>
              <a:rPr lang="zh-TW" altLang="zh-TW" dirty="0"/>
              <a:t>呂小姐</a:t>
            </a:r>
            <a:r>
              <a:rPr lang="en-US" altLang="zh-TW" dirty="0"/>
              <a:t>   </a:t>
            </a:r>
            <a:r>
              <a:rPr lang="zh-TW" altLang="zh-TW" dirty="0"/>
              <a:t>電話：</a:t>
            </a:r>
            <a:r>
              <a:rPr lang="en-US" altLang="zh-TW" dirty="0"/>
              <a:t>0928-267-255</a:t>
            </a:r>
            <a:endParaRPr lang="zh-TW" altLang="zh-TW" dirty="0"/>
          </a:p>
          <a:p>
            <a:pPr lvl="1"/>
            <a:r>
              <a:rPr lang="zh-TW" altLang="zh-TW" dirty="0" smtClean="0"/>
              <a:t>網</a:t>
            </a:r>
            <a:r>
              <a:rPr lang="zh-TW" altLang="en-US" dirty="0" smtClean="0"/>
              <a:t>　</a:t>
            </a:r>
            <a:r>
              <a:rPr lang="zh-TW" altLang="zh-TW" dirty="0" smtClean="0"/>
              <a:t>址</a:t>
            </a:r>
            <a:r>
              <a:rPr lang="en-US" altLang="zh-TW" dirty="0" smtClean="0"/>
              <a:t>    </a:t>
            </a:r>
            <a:r>
              <a:rPr lang="zh-TW" altLang="zh-TW" dirty="0" smtClean="0"/>
              <a:t>：</a:t>
            </a:r>
            <a:r>
              <a:rPr lang="en-US" altLang="zh-TW" u="sng" dirty="0" smtClean="0">
                <a:hlinkClick r:id="rId2"/>
              </a:rPr>
              <a:t>https</a:t>
            </a:r>
            <a:r>
              <a:rPr lang="en-US" altLang="zh-TW" u="sng" dirty="0">
                <a:hlinkClick r:id="rId2"/>
              </a:rPr>
              <a:t>://www.formprint.dev/</a:t>
            </a:r>
            <a:endParaRPr lang="zh-TW" altLang="zh-TW" dirty="0"/>
          </a:p>
          <a:p>
            <a:pPr lvl="1"/>
            <a:r>
              <a:rPr lang="en-US" altLang="zh-TW" dirty="0" smtClean="0"/>
              <a:t>Telegram</a:t>
            </a:r>
            <a:r>
              <a:rPr lang="zh-TW" altLang="en-US" dirty="0"/>
              <a:t> </a:t>
            </a:r>
            <a:r>
              <a:rPr lang="zh-TW" altLang="zh-TW" dirty="0" smtClean="0"/>
              <a:t>：</a:t>
            </a:r>
            <a:r>
              <a:rPr lang="en-US" altLang="zh-TW" u="sng" dirty="0" smtClean="0">
                <a:hlinkClick r:id="rId3"/>
              </a:rPr>
              <a:t>@</a:t>
            </a:r>
            <a:r>
              <a:rPr lang="en-US" altLang="zh-TW" u="sng" dirty="0" err="1" smtClean="0">
                <a:hlinkClick r:id="rId3"/>
              </a:rPr>
              <a:t>DataReport</a:t>
            </a:r>
            <a:endParaRPr lang="zh-TW" altLang="zh-TW" dirty="0"/>
          </a:p>
          <a:p>
            <a:pPr lvl="1"/>
            <a:r>
              <a:rPr lang="en-US" altLang="zh-TW" dirty="0" smtClean="0"/>
              <a:t>LINE</a:t>
            </a:r>
            <a:r>
              <a:rPr lang="en-US" altLang="zh-TW" dirty="0"/>
              <a:t> </a:t>
            </a:r>
            <a:r>
              <a:rPr lang="en-US" altLang="zh-TW" dirty="0" smtClean="0"/>
              <a:t>ID     </a:t>
            </a:r>
            <a:r>
              <a:rPr lang="zh-TW" altLang="zh-TW" dirty="0" smtClean="0"/>
              <a:t>：</a:t>
            </a:r>
            <a:r>
              <a:rPr lang="en-US" altLang="zh-TW" u="sng" dirty="0" smtClean="0">
                <a:hlinkClick r:id="rId4"/>
              </a:rPr>
              <a:t>overprint.tw</a:t>
            </a:r>
            <a:endParaRPr lang="en-US" altLang="zh-TW" u="sng" dirty="0" smtClean="0"/>
          </a:p>
          <a:p>
            <a:pPr lvl="1"/>
            <a:r>
              <a:rPr lang="zh-TW" altLang="zh-TW" dirty="0" smtClean="0"/>
              <a:t>電子信箱</a:t>
            </a:r>
            <a:r>
              <a:rPr lang="zh-TW" altLang="zh-TW" dirty="0"/>
              <a:t>：</a:t>
            </a:r>
            <a:r>
              <a:rPr lang="en-US" altLang="zh-TW" u="sng" dirty="0" smtClean="0">
                <a:hlinkClick r:id="rId5"/>
              </a:rPr>
              <a:t>overprint.tw@gmail.com</a:t>
            </a:r>
          </a:p>
        </p:txBody>
      </p:sp>
      <p:sp>
        <p:nvSpPr>
          <p:cNvPr id="4" name="標題 1"/>
          <p:cNvSpPr txBox="1">
            <a:spLocks/>
          </p:cNvSpPr>
          <p:nvPr/>
        </p:nvSpPr>
        <p:spPr>
          <a:xfrm>
            <a:off x="838200" y="365125"/>
            <a:ext cx="10515600" cy="84448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zh-TW" altLang="en-US" sz="3600" dirty="0" smtClean="0"/>
              <a:t>與我們聯絡</a:t>
            </a:r>
            <a:endParaRPr lang="zh-TW" altLang="en-US" sz="3600" dirty="0"/>
          </a:p>
        </p:txBody>
      </p:sp>
      <p:sp>
        <p:nvSpPr>
          <p:cNvPr id="2" name="投影片編號版面配置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B6EF07-459A-4CB9-B1F3-0734876A23B5}" type="slidenum">
              <a:rPr lang="zh-TW" altLang="en-US" smtClean="0"/>
              <a:t>10</a:t>
            </a:fld>
            <a:endParaRPr lang="zh-TW" altLang="en-US" dirty="0"/>
          </a:p>
        </p:txBody>
      </p:sp>
      <p:sp>
        <p:nvSpPr>
          <p:cNvPr id="6" name="文字方塊 5"/>
          <p:cNvSpPr txBox="1"/>
          <p:nvPr/>
        </p:nvSpPr>
        <p:spPr>
          <a:xfrm>
            <a:off x="8569063" y="5839707"/>
            <a:ext cx="27847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2400" b="1" u="sng" dirty="0"/>
              <a:t>電腦套印</a:t>
            </a:r>
            <a:r>
              <a:rPr lang="zh-TW" altLang="en-US" sz="2400" b="1" u="sng" dirty="0" smtClean="0"/>
              <a:t>專家  敬上</a:t>
            </a:r>
            <a:endParaRPr lang="zh-TW" altLang="en-US" sz="2400" b="1" dirty="0"/>
          </a:p>
        </p:txBody>
      </p:sp>
    </p:spTree>
    <p:extLst>
      <p:ext uri="{BB962C8B-B14F-4D97-AF65-F5344CB8AC3E}">
        <p14:creationId xmlns:p14="http://schemas.microsoft.com/office/powerpoint/2010/main" val="2013527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1221</TotalTime>
  <Words>1042</Words>
  <Application>Microsoft Office PowerPoint</Application>
  <PresentationFormat>寬螢幕</PresentationFormat>
  <Paragraphs>74</Paragraphs>
  <Slides>10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4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10</vt:i4>
      </vt:variant>
    </vt:vector>
  </HeadingPairs>
  <TitlesOfParts>
    <vt:vector size="15" baseType="lpstr">
      <vt:lpstr>新細明體</vt:lpstr>
      <vt:lpstr>Arial</vt:lpstr>
      <vt:lpstr>Calibri</vt:lpstr>
      <vt:lpstr>Calibri Light</vt:lpstr>
      <vt:lpstr>Office 佈景主題</vt:lpstr>
      <vt:lpstr>信封套印指南</vt:lpstr>
      <vt:lpstr>大綱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將資料套印在正確的位置</dc:title>
  <dc:creator>Windows 使用者</dc:creator>
  <cp:lastModifiedBy>Windows 使用者</cp:lastModifiedBy>
  <cp:revision>63</cp:revision>
  <dcterms:created xsi:type="dcterms:W3CDTF">2020-05-23T14:20:53Z</dcterms:created>
  <dcterms:modified xsi:type="dcterms:W3CDTF">2021-03-21T14:16:40Z</dcterms:modified>
</cp:coreProperties>
</file>