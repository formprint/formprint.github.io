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8"/>
  </p:notesMasterIdLst>
  <p:sldIdLst>
    <p:sldId id="256" r:id="rId2"/>
    <p:sldId id="276" r:id="rId3"/>
    <p:sldId id="258" r:id="rId4"/>
    <p:sldId id="259" r:id="rId5"/>
    <p:sldId id="257" r:id="rId6"/>
    <p:sldId id="261" r:id="rId7"/>
    <p:sldId id="263" r:id="rId8"/>
    <p:sldId id="262" r:id="rId9"/>
    <p:sldId id="277" r:id="rId10"/>
    <p:sldId id="264" r:id="rId11"/>
    <p:sldId id="269" r:id="rId12"/>
    <p:sldId id="270" r:id="rId13"/>
    <p:sldId id="271" r:id="rId14"/>
    <p:sldId id="272" r:id="rId15"/>
    <p:sldId id="278" r:id="rId16"/>
    <p:sldId id="274" r:id="rId17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E6E6E6"/>
    <a:srgbClr val="FFFF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115" d="100"/>
          <a:sy n="115" d="100"/>
        </p:scale>
        <p:origin x="372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21" Type="http://schemas.openxmlformats.org/officeDocument/2006/relationships/theme" Target="theme/theme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presProps" Target="pres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5A74288-C947-4756-8BD9-EA7F82D540BD}" type="datetimeFigureOut">
              <a:rPr lang="zh-TW" altLang="en-US" smtClean="0"/>
              <a:t>2021-03-21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6AA2DD9-4F1A-46BF-9F27-2C10BB587E96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9522706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副標題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 smtClean="0"/>
              <a:t>按一下以編輯母片副標題樣式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AE62CD-8B21-4DCA-976C-72560D68D0CA}" type="datetime1">
              <a:rPr lang="zh-TW" altLang="en-US" smtClean="0"/>
              <a:t>2021-03-21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EF07-459A-4CB9-B1F3-0734876A23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045363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B7AE41-A05E-49BD-9B51-43B9BEE09F68}" type="datetime1">
              <a:rPr lang="zh-TW" altLang="en-US" smtClean="0"/>
              <a:t>2021-03-21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EF07-459A-4CB9-B1F3-0734876A23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6506692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10E07B1-B1DB-41D4-A293-DD0451BFCD2E}" type="datetime1">
              <a:rPr lang="zh-TW" altLang="en-US" smtClean="0"/>
              <a:t>2021-03-21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EF07-459A-4CB9-B1F3-0734876A23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09551803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D2A294F-6296-4261-8659-5CF0977F2C8B}" type="datetime1">
              <a:rPr lang="zh-TW" altLang="en-US" smtClean="0"/>
              <a:t>2021-03-21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EF07-459A-4CB9-B1F3-0734876A23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3182410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7" name="日期版面配置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C34E62E-C413-4E58-B904-DFA0F38ADF3E}" type="datetime1">
              <a:rPr lang="zh-TW" altLang="en-US" smtClean="0"/>
              <a:t>2021-03-21</a:t>
            </a:fld>
            <a:endParaRPr lang="zh-TW" altLang="en-US"/>
          </a:p>
        </p:txBody>
      </p:sp>
      <p:sp>
        <p:nvSpPr>
          <p:cNvPr id="8" name="頁尾版面配置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EF07-459A-4CB9-B1F3-0734876A23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52049519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0E1CE0E-7F83-4E6F-930D-B806258325C8}" type="datetime1">
              <a:rPr lang="zh-TW" altLang="en-US" smtClean="0"/>
              <a:t>2021-03-21</a:t>
            </a:fld>
            <a:endParaRPr lang="zh-TW" altLang="en-US"/>
          </a:p>
        </p:txBody>
      </p:sp>
      <p:sp>
        <p:nvSpPr>
          <p:cNvPr id="4" name="頁尾版面配置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EF07-459A-4CB9-B1F3-0734876A23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737473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1EC49EA-79D2-40AE-BC5E-6155B76F832C}" type="datetime1">
              <a:rPr lang="zh-TW" altLang="en-US" smtClean="0"/>
              <a:t>2021-03-21</a:t>
            </a:fld>
            <a:endParaRPr lang="zh-TW" altLang="en-US"/>
          </a:p>
        </p:txBody>
      </p:sp>
      <p:sp>
        <p:nvSpPr>
          <p:cNvPr id="3" name="頁尾版面配置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EF07-459A-4CB9-B1F3-0734876A23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9421920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E263821-3DD8-4824-84F2-D2440375AD1A}" type="datetime1">
              <a:rPr lang="zh-TW" altLang="en-US" smtClean="0"/>
              <a:t>2021-03-21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EF07-459A-4CB9-B1F3-0734876A23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067674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 smtClean="0"/>
              <a:t>編輯母片文字樣式</a:t>
            </a:r>
          </a:p>
        </p:txBody>
      </p:sp>
      <p:sp>
        <p:nvSpPr>
          <p:cNvPr id="5" name="日期版面配置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DD94D9-7E21-48A6-9A87-BA0AF01DECA7}" type="datetime1">
              <a:rPr lang="zh-TW" altLang="en-US" smtClean="0"/>
              <a:t>2021-03-21</a:t>
            </a:fld>
            <a:endParaRPr lang="zh-TW" altLang="en-US"/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EF07-459A-4CB9-B1F3-0734876A23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32771743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D5CD77E-FA70-40ED-938B-98FBE1E917C8}" type="datetime1">
              <a:rPr lang="zh-TW" altLang="en-US" smtClean="0"/>
              <a:t>2021-03-21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EF07-459A-4CB9-B1F3-0734876A23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8526061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286E110-3EE8-4B8C-853C-B203B3244C6D}" type="datetime1">
              <a:rPr lang="zh-TW" altLang="en-US" smtClean="0"/>
              <a:t>2021-03-21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EF07-459A-4CB9-B1F3-0734876A23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8965508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 smtClean="0"/>
              <a:t>按一下以編輯母片標題樣式</a:t>
            </a:r>
            <a:endParaRPr lang="zh-TW" altLang="en-US"/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 smtClean="0"/>
              <a:t>編輯母片文字樣式</a:t>
            </a:r>
          </a:p>
          <a:p>
            <a:pPr lvl="1"/>
            <a:r>
              <a:rPr lang="zh-TW" altLang="en-US" smtClean="0"/>
              <a:t>第二層</a:t>
            </a:r>
          </a:p>
          <a:p>
            <a:pPr lvl="2"/>
            <a:r>
              <a:rPr lang="zh-TW" altLang="en-US" smtClean="0"/>
              <a:t>第三層</a:t>
            </a:r>
          </a:p>
          <a:p>
            <a:pPr lvl="3"/>
            <a:r>
              <a:rPr lang="zh-TW" altLang="en-US" smtClean="0"/>
              <a:t>第四層</a:t>
            </a:r>
          </a:p>
          <a:p>
            <a:pPr lvl="4"/>
            <a:r>
              <a:rPr lang="zh-TW" altLang="en-US" smtClean="0"/>
              <a:t>第五層</a:t>
            </a:r>
            <a:endParaRPr lang="zh-TW" altLang="en-US"/>
          </a:p>
        </p:txBody>
      </p:sp>
      <p:sp>
        <p:nvSpPr>
          <p:cNvPr id="4" name="日期版面配置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3FA4732-7B13-4B13-9F29-AF1B1144B337}" type="datetime1">
              <a:rPr lang="zh-TW" altLang="en-US" smtClean="0"/>
              <a:t>2021-03-21</a:t>
            </a:fld>
            <a:endParaRPr lang="zh-TW" altLang="en-US"/>
          </a:p>
        </p:txBody>
      </p:sp>
      <p:sp>
        <p:nvSpPr>
          <p:cNvPr id="5" name="頁尾版面配置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6B6EF07-459A-4CB9-B1F3-0734876A23B5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282455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youtu.be/F9t7F4I0HGs" TargetMode="External"/><Relationship Id="rId2" Type="http://schemas.openxmlformats.org/officeDocument/2006/relationships/hyperlink" Target="https://www.formprint.dev/file/FormPrint.7z" TargetMode="External"/><Relationship Id="rId1" Type="http://schemas.openxmlformats.org/officeDocument/2006/relationships/slideLayout" Target="../slideLayouts/slideLayout2.xml"/><Relationship Id="rId6" Type="http://schemas.openxmlformats.org/officeDocument/2006/relationships/hyperlink" Target="https://www.formprint.dev/" TargetMode="External"/><Relationship Id="rId5" Type="http://schemas.openxmlformats.org/officeDocument/2006/relationships/hyperlink" Target="https://www.formprint.dev/FormPrint/PrintTest.pdf" TargetMode="External"/><Relationship Id="rId4" Type="http://schemas.openxmlformats.org/officeDocument/2006/relationships/hyperlink" Target="https://youtu.be/6hd9FvsVEQ0" TargetMode="Externa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formprint.dev/FormPrint/PrintSelect.html" TargetMode="External"/><Relationship Id="rId2" Type="http://schemas.openxmlformats.org/officeDocument/2006/relationships/hyperlink" Target="https://www.formprint.dev/" TargetMode="External"/><Relationship Id="rId1" Type="http://schemas.openxmlformats.org/officeDocument/2006/relationships/slideLayout" Target="../slideLayouts/slideLayout2.xml"/><Relationship Id="rId4" Type="http://schemas.openxmlformats.org/officeDocument/2006/relationships/hyperlink" Target="https://www.formprint.dev/FormPrint/PrintUse.html" TargetMode="Externa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hyperlink" Target="https://t.me/DataReport" TargetMode="External"/><Relationship Id="rId2" Type="http://schemas.openxmlformats.org/officeDocument/2006/relationships/hyperlink" Target="https://www.formprint.dev/" TargetMode="External"/><Relationship Id="rId1" Type="http://schemas.openxmlformats.org/officeDocument/2006/relationships/slideLayout" Target="../slideLayouts/slideLayout2.xml"/><Relationship Id="rId5" Type="http://schemas.openxmlformats.org/officeDocument/2006/relationships/hyperlink" Target="mailto:overprint.tw@gmail.com" TargetMode="External"/><Relationship Id="rId4" Type="http://schemas.openxmlformats.org/officeDocument/2006/relationships/hyperlink" Target="https://line.me/ti/p/T5l30_3EUi" TargetMode="Externa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zh-TW" altLang="en-US" dirty="0" smtClean="0"/>
              <a:t>將資料套印在正確的位置</a:t>
            </a:r>
            <a:endParaRPr lang="zh-TW" altLang="en-US" dirty="0"/>
          </a:p>
        </p:txBody>
      </p:sp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EF07-459A-4CB9-B1F3-0734876A23B5}" type="slidenum">
              <a:rPr lang="zh-TW" altLang="en-US" smtClean="0"/>
              <a:t>1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67362270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 dirty="0" smtClean="0"/>
              <a:t>大綱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zh-TW" altLang="en-US" dirty="0"/>
              <a:t>前置作業</a:t>
            </a:r>
          </a:p>
          <a:p>
            <a:r>
              <a:rPr lang="zh-TW" altLang="en-US" dirty="0"/>
              <a:t>認識您的印表機</a:t>
            </a:r>
          </a:p>
          <a:p>
            <a:r>
              <a:rPr lang="zh-TW" altLang="en-US" dirty="0"/>
              <a:t>將表格置入印表機後夾</a:t>
            </a:r>
            <a:r>
              <a:rPr lang="zh-TW" altLang="en-US" dirty="0" smtClean="0"/>
              <a:t>穩</a:t>
            </a:r>
            <a:endParaRPr lang="en-US" altLang="zh-TW" dirty="0" smtClean="0"/>
          </a:p>
          <a:p>
            <a:r>
              <a:rPr lang="zh-TW" altLang="en-US" dirty="0"/>
              <a:t>套印</a:t>
            </a:r>
            <a:r>
              <a:rPr lang="zh-TW" altLang="en-US" dirty="0" smtClean="0"/>
              <a:t>測試</a:t>
            </a:r>
            <a:endParaRPr lang="en-US" altLang="zh-TW" dirty="0" smtClean="0"/>
          </a:p>
          <a:p>
            <a:r>
              <a:rPr lang="zh-TW" altLang="en-US" dirty="0" smtClean="0"/>
              <a:t>結語</a:t>
            </a:r>
            <a:endParaRPr lang="en-US" altLang="zh-TW" dirty="0" smtClean="0"/>
          </a:p>
          <a:p>
            <a:r>
              <a:rPr lang="zh-TW" altLang="en-US" dirty="0" smtClean="0"/>
              <a:t>仍無法正確套印</a:t>
            </a:r>
            <a:endParaRPr lang="en-US" altLang="zh-TW" dirty="0" smtClean="0"/>
          </a:p>
          <a:p>
            <a:r>
              <a:rPr lang="zh-TW" altLang="en-US" dirty="0" smtClean="0"/>
              <a:t>與我們聯絡</a:t>
            </a:r>
            <a:endParaRPr lang="en-US" altLang="zh-TW" dirty="0"/>
          </a:p>
          <a:p>
            <a:endParaRPr lang="zh-TW" altLang="en-US" dirty="0"/>
          </a:p>
        </p:txBody>
      </p:sp>
      <p:sp>
        <p:nvSpPr>
          <p:cNvPr id="4" name="投影片編號版面配置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EF07-459A-4CB9-B1F3-0734876A23B5}" type="slidenum">
              <a:rPr lang="zh-TW" altLang="en-US" smtClean="0"/>
              <a:t>2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662521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495425"/>
            <a:ext cx="10515600" cy="4681538"/>
          </a:xfrm>
        </p:spPr>
        <p:txBody>
          <a:bodyPr>
            <a:normAutofit lnSpcReduction="1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請加入我們的</a:t>
            </a:r>
            <a:r>
              <a:rPr lang="en-US" altLang="zh-TW" dirty="0" err="1" smtClean="0"/>
              <a:t>Telegarm</a:t>
            </a:r>
            <a:r>
              <a:rPr lang="zh-TW" altLang="en-US" dirty="0" smtClean="0"/>
              <a:t>或</a:t>
            </a:r>
            <a:r>
              <a:rPr lang="en-US" altLang="zh-TW" dirty="0" smtClean="0"/>
              <a:t>LINE</a:t>
            </a:r>
            <a:r>
              <a:rPr lang="zh-TW" altLang="en-US" dirty="0" smtClean="0"/>
              <a:t>帳號</a:t>
            </a:r>
            <a:r>
              <a:rPr lang="en-US" altLang="zh-TW" dirty="0" smtClean="0"/>
              <a:t>(</a:t>
            </a:r>
            <a:r>
              <a:rPr lang="zh-TW" altLang="en-US" dirty="0" smtClean="0"/>
              <a:t>最後一頁</a:t>
            </a:r>
            <a:r>
              <a:rPr lang="en-US" altLang="zh-TW" dirty="0" smtClean="0"/>
              <a:t>)</a:t>
            </a:r>
            <a:r>
              <a:rPr lang="zh-TW" altLang="en-US" dirty="0" smtClean="0"/>
              <a:t>，溝通會更即時。</a:t>
            </a: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完成軟體建置：軟體</a:t>
            </a:r>
            <a:r>
              <a:rPr lang="zh-TW" altLang="en-US" b="1" dirty="0" smtClean="0">
                <a:hlinkClick r:id="rId2"/>
              </a:rPr>
              <a:t>下載</a:t>
            </a:r>
            <a:r>
              <a:rPr lang="zh-TW" altLang="en-US" dirty="0" smtClean="0"/>
              <a:t>及安裝</a:t>
            </a:r>
            <a:r>
              <a:rPr lang="en-US" altLang="zh-TW" dirty="0" smtClean="0"/>
              <a:t>(</a:t>
            </a:r>
            <a:r>
              <a:rPr lang="zh-TW" altLang="en-US" b="1" dirty="0" smtClean="0">
                <a:hlinkClick r:id="rId3"/>
              </a:rPr>
              <a:t>影片說明</a:t>
            </a:r>
            <a:r>
              <a:rPr lang="en-US" altLang="zh-TW" dirty="0" smtClean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完成引用表格：</a:t>
            </a:r>
            <a:endParaRPr lang="en-US" altLang="zh-TW" dirty="0" smtClean="0"/>
          </a:p>
          <a:p>
            <a:pPr marL="914400" lvl="1" indent="-457200">
              <a:buFont typeface="+mj-lt"/>
              <a:buAutoNum type="arabicParenR"/>
            </a:pPr>
            <a:r>
              <a:rPr lang="zh-TW" altLang="en-US" dirty="0" smtClean="0"/>
              <a:t>匯入、建立基本資料、設定印表機、套印</a:t>
            </a:r>
            <a:r>
              <a:rPr lang="en-US" altLang="zh-TW" dirty="0" smtClean="0"/>
              <a:t>(</a:t>
            </a:r>
            <a:r>
              <a:rPr lang="zh-TW" altLang="en-US" b="1" dirty="0">
                <a:hlinkClick r:id="rId4"/>
              </a:rPr>
              <a:t>影片</a:t>
            </a:r>
            <a:r>
              <a:rPr lang="zh-TW" altLang="en-US" b="1" dirty="0" smtClean="0">
                <a:hlinkClick r:id="rId4"/>
              </a:rPr>
              <a:t>說明</a:t>
            </a:r>
            <a:r>
              <a:rPr lang="en-US" altLang="zh-TW" dirty="0" smtClean="0"/>
              <a:t>)</a:t>
            </a:r>
          </a:p>
          <a:p>
            <a:pPr marL="914400" lvl="1" indent="-457200">
              <a:buFont typeface="+mj-lt"/>
              <a:buAutoNum type="arabicParenR"/>
            </a:pPr>
            <a:r>
              <a:rPr lang="zh-TW" altLang="en-US" dirty="0"/>
              <a:t>將資料套印在正確的</a:t>
            </a:r>
            <a:r>
              <a:rPr lang="zh-TW" altLang="en-US" dirty="0" smtClean="0"/>
              <a:t>位置</a:t>
            </a:r>
            <a:r>
              <a:rPr lang="en-US" altLang="zh-TW" dirty="0" smtClean="0"/>
              <a:t>(</a:t>
            </a:r>
            <a:r>
              <a:rPr lang="zh-TW" altLang="en-US" b="1" dirty="0" smtClean="0">
                <a:hlinkClick r:id="rId5"/>
              </a:rPr>
              <a:t>說明文件</a:t>
            </a:r>
            <a:r>
              <a:rPr lang="en-US" altLang="zh-TW" dirty="0" smtClean="0"/>
              <a:t>)</a:t>
            </a:r>
          </a:p>
          <a:p>
            <a:pPr marL="0" indent="0">
              <a:buNone/>
            </a:pPr>
            <a:r>
              <a:rPr lang="zh-TW" altLang="en-US" dirty="0" smtClean="0"/>
              <a:t>備註：</a:t>
            </a: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網址：</a:t>
            </a:r>
            <a:r>
              <a:rPr lang="en-US" altLang="zh-TW" dirty="0">
                <a:hlinkClick r:id="rId6"/>
              </a:rPr>
              <a:t>https://www.formprint.dev</a:t>
            </a:r>
            <a:r>
              <a:rPr lang="en-US" altLang="zh-TW" dirty="0" smtClean="0">
                <a:hlinkClick r:id="rId6"/>
              </a:rPr>
              <a:t>/</a:t>
            </a:r>
            <a:r>
              <a:rPr lang="en-US" altLang="zh-TW" dirty="0" smtClean="0"/>
              <a:t>    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操作順序：進入上述網站後，</a:t>
            </a:r>
            <a:r>
              <a:rPr lang="zh-TW" altLang="en-US" dirty="0" smtClean="0">
                <a:solidFill>
                  <a:srgbClr val="0000FF"/>
                </a:solidFill>
              </a:rPr>
              <a:t>支援服務 </a:t>
            </a:r>
            <a:r>
              <a:rPr lang="en-US" altLang="zh-TW" dirty="0" smtClean="0"/>
              <a:t>&gt; </a:t>
            </a:r>
            <a:r>
              <a:rPr lang="zh-TW" altLang="en-US" dirty="0" smtClean="0">
                <a:solidFill>
                  <a:srgbClr val="0000FF"/>
                </a:solidFill>
              </a:rPr>
              <a:t>檔案下載</a:t>
            </a:r>
            <a:r>
              <a:rPr lang="zh-TW" altLang="en-US" dirty="0" smtClean="0"/>
              <a:t>，</a:t>
            </a:r>
            <a:r>
              <a:rPr lang="zh-TW" altLang="en-US" dirty="0" smtClean="0">
                <a:solidFill>
                  <a:srgbClr val="FF0000"/>
                </a:solidFill>
              </a:rPr>
              <a:t>第</a:t>
            </a:r>
            <a:r>
              <a:rPr lang="en-US" altLang="zh-TW" dirty="0" smtClean="0">
                <a:solidFill>
                  <a:srgbClr val="FF0000"/>
                </a:solidFill>
              </a:rPr>
              <a:t>7</a:t>
            </a:r>
            <a:r>
              <a:rPr lang="zh-TW" altLang="en-US" dirty="0" smtClean="0">
                <a:solidFill>
                  <a:srgbClr val="FF0000"/>
                </a:solidFill>
              </a:rPr>
              <a:t>項的影片及說明</a:t>
            </a:r>
            <a:r>
              <a:rPr lang="zh-TW" altLang="en-US" dirty="0" smtClean="0"/>
              <a:t>請務必看</a:t>
            </a:r>
            <a:r>
              <a:rPr lang="en-US" altLang="zh-TW" dirty="0" smtClean="0"/>
              <a:t>1</a:t>
            </a:r>
            <a:r>
              <a:rPr lang="zh-TW" altLang="en-US" dirty="0" smtClean="0"/>
              <a:t>次。</a:t>
            </a:r>
            <a:endParaRPr lang="en-US" altLang="zh-TW" dirty="0" smtClean="0"/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/>
              <a:t>「</a:t>
            </a:r>
            <a:r>
              <a:rPr lang="zh-TW" altLang="en-US" dirty="0" smtClean="0">
                <a:solidFill>
                  <a:srgbClr val="FF0000"/>
                </a:solidFill>
              </a:rPr>
              <a:t>表格套印管理系統</a:t>
            </a:r>
            <a:r>
              <a:rPr lang="en-US" altLang="zh-TW" dirty="0" smtClean="0">
                <a:solidFill>
                  <a:srgbClr val="FF0000"/>
                </a:solidFill>
              </a:rPr>
              <a:t>\HELP</a:t>
            </a:r>
            <a:r>
              <a:rPr lang="zh-TW" altLang="en-US" dirty="0" smtClean="0"/>
              <a:t>」資料夾，有</a:t>
            </a:r>
            <a:r>
              <a:rPr lang="zh-TW" altLang="en-US" dirty="0" smtClean="0">
                <a:solidFill>
                  <a:srgbClr val="FF0000"/>
                </a:solidFill>
              </a:rPr>
              <a:t>入門指南</a:t>
            </a:r>
            <a:r>
              <a:rPr lang="zh-TW" altLang="en-US" dirty="0" smtClean="0"/>
              <a:t>文件可以參考。</a:t>
            </a:r>
            <a:endParaRPr lang="en-US" altLang="zh-TW" dirty="0" smtClean="0"/>
          </a:p>
          <a:p>
            <a:pPr marL="0" indent="0">
              <a:buNone/>
            </a:pPr>
            <a:endParaRPr lang="zh-TW" altLang="en-US" dirty="0"/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838200" y="365125"/>
            <a:ext cx="10515600" cy="8444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sz="3600" dirty="0" smtClean="0"/>
              <a:t>前置作業</a:t>
            </a:r>
            <a:endParaRPr lang="zh-TW" altLang="en-US" sz="36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EF07-459A-4CB9-B1F3-0734876A23B5}" type="slidenum">
              <a:rPr lang="zh-TW" altLang="en-US" smtClean="0"/>
              <a:t>3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547444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495425"/>
            <a:ext cx="10515600" cy="4681538"/>
          </a:xfrm>
        </p:spPr>
        <p:txBody>
          <a:bodyPr>
            <a:normAutofit fontScale="77500" lnSpcReduction="20000"/>
          </a:bodyPr>
          <a:lstStyle/>
          <a:p>
            <a:pPr marL="514350" indent="-514350">
              <a:buFont typeface="+mj-lt"/>
              <a:buAutoNum type="arabicPeriod"/>
            </a:pPr>
            <a:r>
              <a:rPr lang="zh-TW" altLang="zh-TW" sz="3100" dirty="0"/>
              <a:t>表格套印管理系統，可以使用任意的印表機，但挑選正確的印表機非常的重要，除了能提升您的套印速度與套印品質，影響您對套印工作感受。</a:t>
            </a:r>
          </a:p>
          <a:p>
            <a:pPr marL="514350" indent="-514350">
              <a:buFont typeface="+mj-lt"/>
              <a:buAutoNum type="arabicPeriod"/>
            </a:pPr>
            <a:r>
              <a:rPr lang="zh-TW" altLang="zh-TW" sz="3100" dirty="0"/>
              <a:t>參考資料：</a:t>
            </a:r>
          </a:p>
          <a:p>
            <a:pPr marL="971550" lvl="1" indent="-514350">
              <a:buFont typeface="+mj-lt"/>
              <a:buAutoNum type="arabicParenR"/>
            </a:pPr>
            <a:r>
              <a:rPr lang="zh-TW" altLang="zh-TW" sz="2900" dirty="0">
                <a:latin typeface="+mn-ea"/>
              </a:rPr>
              <a:t>網址：</a:t>
            </a:r>
            <a:r>
              <a:rPr lang="en-US" altLang="zh-TW" sz="2900" u="sng" dirty="0">
                <a:latin typeface="+mn-ea"/>
                <a:hlinkClick r:id="rId2"/>
              </a:rPr>
              <a:t>https://www.formprint.dev/</a:t>
            </a:r>
            <a:r>
              <a:rPr lang="en-US" altLang="zh-TW" sz="2900" dirty="0">
                <a:latin typeface="+mn-ea"/>
              </a:rPr>
              <a:t>    </a:t>
            </a:r>
            <a:endParaRPr lang="zh-TW" altLang="zh-TW" sz="2900" dirty="0">
              <a:latin typeface="+mn-ea"/>
            </a:endParaRPr>
          </a:p>
          <a:p>
            <a:pPr marL="971550" lvl="1" indent="-514350">
              <a:buFont typeface="+mj-lt"/>
              <a:buAutoNum type="arabicParenR"/>
            </a:pPr>
            <a:r>
              <a:rPr lang="zh-TW" altLang="zh-TW" sz="2900" dirty="0">
                <a:latin typeface="+mn-ea"/>
              </a:rPr>
              <a:t>說明檔：</a:t>
            </a:r>
          </a:p>
          <a:p>
            <a:pPr marL="1428750" lvl="2" indent="-514350">
              <a:buFont typeface="Wingdings" panose="05000000000000000000" pitchFamily="2" charset="2"/>
              <a:buAutoNum type="circleNumWdWhitePlain"/>
            </a:pPr>
            <a:r>
              <a:rPr lang="zh-TW" altLang="zh-TW" sz="2900" dirty="0">
                <a:latin typeface="+mn-ea"/>
              </a:rPr>
              <a:t>操作入門</a:t>
            </a:r>
            <a:r>
              <a:rPr lang="en-US" altLang="zh-TW" sz="2900" dirty="0">
                <a:latin typeface="+mn-ea"/>
              </a:rPr>
              <a:t> &gt; </a:t>
            </a:r>
            <a:r>
              <a:rPr lang="zh-TW" altLang="zh-TW" sz="2900" b="1" dirty="0">
                <a:latin typeface="+mn-ea"/>
                <a:hlinkClick r:id="rId3"/>
              </a:rPr>
              <a:t>選擇</a:t>
            </a:r>
            <a:r>
              <a:rPr lang="zh-TW" altLang="zh-TW" sz="2900" b="1" dirty="0" smtClean="0">
                <a:latin typeface="+mn-ea"/>
                <a:hlinkClick r:id="rId3"/>
              </a:rPr>
              <a:t>印表機</a:t>
            </a:r>
            <a:endParaRPr lang="zh-TW" altLang="zh-TW" sz="2900" dirty="0">
              <a:latin typeface="+mn-ea"/>
            </a:endParaRPr>
          </a:p>
          <a:p>
            <a:pPr marL="1428750" lvl="2" indent="-514350">
              <a:buFont typeface="+mj-lt"/>
              <a:buAutoNum type="circleNumWdWhitePlain"/>
            </a:pPr>
            <a:r>
              <a:rPr lang="zh-TW" altLang="zh-TW" sz="2900" dirty="0">
                <a:latin typeface="+mn-ea"/>
              </a:rPr>
              <a:t>操作入門</a:t>
            </a:r>
            <a:r>
              <a:rPr lang="en-US" altLang="zh-TW" sz="2900" dirty="0">
                <a:latin typeface="+mn-ea"/>
              </a:rPr>
              <a:t> &gt; </a:t>
            </a:r>
            <a:r>
              <a:rPr lang="zh-TW" altLang="zh-TW" sz="2900" b="1" dirty="0">
                <a:latin typeface="+mn-ea"/>
                <a:hlinkClick r:id="rId4"/>
              </a:rPr>
              <a:t>印表機操作</a:t>
            </a:r>
            <a:r>
              <a:rPr lang="zh-TW" altLang="zh-TW" sz="2900" b="1" dirty="0" smtClean="0">
                <a:latin typeface="+mn-ea"/>
                <a:hlinkClick r:id="rId4"/>
              </a:rPr>
              <a:t>說明</a:t>
            </a:r>
            <a:endParaRPr lang="en-US" altLang="zh-TW" sz="2900" b="1" dirty="0" smtClean="0">
              <a:latin typeface="+mn-ea"/>
            </a:endParaRP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zh-TW" altLang="en-US" sz="3100" dirty="0" smtClean="0">
                <a:latin typeface="+mn-ea"/>
              </a:rPr>
              <a:t>印表機選擇：</a:t>
            </a:r>
            <a:endParaRPr lang="en-US" altLang="zh-TW" sz="3100" dirty="0">
              <a:latin typeface="+mn-ea"/>
            </a:endParaRPr>
          </a:p>
          <a:p>
            <a:pPr marL="971550" lvl="1" indent="-514350">
              <a:lnSpc>
                <a:spcPct val="110000"/>
              </a:lnSpc>
              <a:buFont typeface="+mj-lt"/>
              <a:buAutoNum type="arabicParenR"/>
            </a:pPr>
            <a:r>
              <a:rPr lang="zh-TW" altLang="en-US" sz="2900" dirty="0" smtClean="0">
                <a:latin typeface="+mn-ea"/>
              </a:rPr>
              <a:t>單聯</a:t>
            </a:r>
            <a:r>
              <a:rPr lang="en-US" altLang="zh-TW" sz="2900" dirty="0" smtClean="0">
                <a:latin typeface="+mn-ea"/>
              </a:rPr>
              <a:t>(</a:t>
            </a:r>
            <a:r>
              <a:rPr lang="zh-TW" altLang="en-US" sz="2900" dirty="0" smtClean="0">
                <a:latin typeface="+mn-ea"/>
              </a:rPr>
              <a:t>單</a:t>
            </a:r>
            <a:r>
              <a:rPr lang="en-US" altLang="zh-TW" sz="2900" dirty="0" smtClean="0">
                <a:latin typeface="+mn-ea"/>
              </a:rPr>
              <a:t>)</a:t>
            </a:r>
            <a:r>
              <a:rPr lang="zh-TW" altLang="en-US" sz="2900" dirty="0" smtClean="0">
                <a:latin typeface="+mn-ea"/>
              </a:rPr>
              <a:t>的表格</a:t>
            </a:r>
            <a:r>
              <a:rPr lang="en-US" altLang="zh-TW" sz="2900" dirty="0" smtClean="0">
                <a:latin typeface="+mn-ea"/>
              </a:rPr>
              <a:t>(</a:t>
            </a:r>
            <a:r>
              <a:rPr lang="zh-TW" altLang="en-US" sz="2900" dirty="0" smtClean="0">
                <a:latin typeface="+mn-ea"/>
              </a:rPr>
              <a:t>如存取款單、支票</a:t>
            </a:r>
            <a:r>
              <a:rPr lang="en-US" altLang="zh-TW" sz="2900" dirty="0" smtClean="0">
                <a:latin typeface="+mn-ea"/>
              </a:rPr>
              <a:t>)</a:t>
            </a:r>
            <a:r>
              <a:rPr lang="zh-TW" altLang="en-US" sz="2900" dirty="0" smtClean="0">
                <a:latin typeface="+mn-ea"/>
              </a:rPr>
              <a:t>建議用雷射、噴墨印表機。</a:t>
            </a:r>
            <a:endParaRPr lang="en-US" altLang="zh-TW" sz="2900" dirty="0" smtClean="0">
              <a:latin typeface="+mn-ea"/>
            </a:endParaRPr>
          </a:p>
          <a:p>
            <a:pPr marL="971550" lvl="1" indent="-514350">
              <a:lnSpc>
                <a:spcPct val="110000"/>
              </a:lnSpc>
              <a:buFont typeface="+mj-lt"/>
              <a:buAutoNum type="arabicParenR"/>
            </a:pPr>
            <a:r>
              <a:rPr lang="zh-TW" altLang="en-US" sz="2900" dirty="0" smtClean="0">
                <a:latin typeface="+mn-ea"/>
              </a:rPr>
              <a:t>有序號的表格</a:t>
            </a:r>
            <a:r>
              <a:rPr lang="en-US" altLang="zh-TW" sz="2900" dirty="0" smtClean="0">
                <a:latin typeface="+mn-ea"/>
              </a:rPr>
              <a:t>(</a:t>
            </a:r>
            <a:r>
              <a:rPr lang="zh-TW" altLang="en-US" sz="2900" dirty="0" smtClean="0">
                <a:latin typeface="+mn-ea"/>
              </a:rPr>
              <a:t>如支票</a:t>
            </a:r>
            <a:r>
              <a:rPr lang="en-US" altLang="zh-TW" sz="2900" dirty="0" smtClean="0">
                <a:latin typeface="+mn-ea"/>
              </a:rPr>
              <a:t>)</a:t>
            </a:r>
            <a:r>
              <a:rPr lang="zh-TW" altLang="en-US" sz="2900" dirty="0" smtClean="0">
                <a:latin typeface="+mn-ea"/>
              </a:rPr>
              <a:t>建議用列印面朝向置入印表機的機種，才有辦法票號序號進紙。</a:t>
            </a:r>
            <a:endParaRPr lang="en-US" altLang="zh-TW" sz="2900" dirty="0" smtClean="0">
              <a:latin typeface="+mn-ea"/>
            </a:endParaRPr>
          </a:p>
          <a:p>
            <a:pPr marL="971550" lvl="1" indent="-514350">
              <a:lnSpc>
                <a:spcPct val="110000"/>
              </a:lnSpc>
              <a:buFont typeface="+mj-lt"/>
              <a:buAutoNum type="arabicParenR"/>
            </a:pPr>
            <a:r>
              <a:rPr lang="zh-TW" altLang="en-US" sz="2900" dirty="0" smtClean="0">
                <a:latin typeface="+mn-ea"/>
              </a:rPr>
              <a:t>列印</a:t>
            </a:r>
            <a:r>
              <a:rPr lang="zh-TW" altLang="en-US" sz="2900" dirty="0">
                <a:latin typeface="+mn-ea"/>
              </a:rPr>
              <a:t>三聯式發票、二聯式發票及各式多聯式</a:t>
            </a:r>
            <a:r>
              <a:rPr lang="zh-TW" altLang="en-US" sz="2900" dirty="0" smtClean="0">
                <a:latin typeface="+mn-ea"/>
              </a:rPr>
              <a:t>表格，</a:t>
            </a:r>
            <a:r>
              <a:rPr lang="en-US" altLang="zh-TW" sz="2900" dirty="0">
                <a:latin typeface="+mn-ea"/>
              </a:rPr>
              <a:t> </a:t>
            </a:r>
            <a:r>
              <a:rPr lang="zh-TW" altLang="en-US" sz="2900" dirty="0" smtClean="0">
                <a:latin typeface="+mn-ea"/>
              </a:rPr>
              <a:t>建議使用</a:t>
            </a:r>
            <a:r>
              <a:rPr lang="en-US" altLang="zh-TW" sz="2900" dirty="0" smtClean="0">
                <a:latin typeface="+mn-ea"/>
              </a:rPr>
              <a:t>EPSON LQ-310</a:t>
            </a:r>
            <a:r>
              <a:rPr lang="zh-TW" altLang="en-US" sz="2900" dirty="0" smtClean="0">
                <a:latin typeface="+mn-ea"/>
              </a:rPr>
              <a:t> 。</a:t>
            </a:r>
            <a:endParaRPr lang="en-US" altLang="zh-TW" sz="2900" dirty="0">
              <a:latin typeface="+mn-ea"/>
            </a:endParaRPr>
          </a:p>
          <a:p>
            <a:pPr marL="971550" lvl="1" indent="-514350">
              <a:lnSpc>
                <a:spcPct val="110000"/>
              </a:lnSpc>
              <a:buFont typeface="+mj-lt"/>
              <a:buAutoNum type="arabicParenR"/>
            </a:pPr>
            <a:r>
              <a:rPr lang="zh-TW" altLang="en-US" sz="2900" dirty="0" smtClean="0">
                <a:latin typeface="+mn-ea"/>
              </a:rPr>
              <a:t>大型表格</a:t>
            </a:r>
            <a:r>
              <a:rPr lang="en-US" altLang="zh-TW" sz="2900" dirty="0" smtClean="0">
                <a:latin typeface="+mn-ea"/>
              </a:rPr>
              <a:t>(</a:t>
            </a:r>
            <a:r>
              <a:rPr lang="zh-TW" altLang="en-US" sz="2900" dirty="0" smtClean="0">
                <a:latin typeface="+mn-ea"/>
              </a:rPr>
              <a:t>如保險單、要保書</a:t>
            </a:r>
            <a:r>
              <a:rPr lang="en-US" altLang="zh-TW" sz="2900" dirty="0" smtClean="0">
                <a:latin typeface="+mn-ea"/>
              </a:rPr>
              <a:t>)</a:t>
            </a:r>
            <a:r>
              <a:rPr lang="zh-TW" altLang="en-US" sz="2900" dirty="0" smtClean="0">
                <a:latin typeface="+mn-ea"/>
              </a:rPr>
              <a:t>建議用</a:t>
            </a:r>
            <a:r>
              <a:rPr lang="en-US" altLang="zh-TW" sz="2900" dirty="0" smtClean="0">
                <a:latin typeface="+mn-ea"/>
              </a:rPr>
              <a:t>Epson 2090CII</a:t>
            </a:r>
            <a:r>
              <a:rPr lang="zh-TW" altLang="en-US" sz="2900" dirty="0" smtClean="0">
                <a:latin typeface="+mn-ea"/>
              </a:rPr>
              <a:t>、</a:t>
            </a:r>
            <a:r>
              <a:rPr lang="en-US" altLang="zh-TW" sz="2900" dirty="0" smtClean="0">
                <a:latin typeface="+mn-ea"/>
              </a:rPr>
              <a:t>LQ690C</a:t>
            </a:r>
            <a:r>
              <a:rPr lang="zh-TW" altLang="en-US" sz="2900" dirty="0" smtClean="0">
                <a:latin typeface="+mn-ea"/>
              </a:rPr>
              <a:t>。</a:t>
            </a:r>
            <a:endParaRPr lang="zh-TW" altLang="en-US" sz="2900" dirty="0">
              <a:latin typeface="+mn-ea"/>
            </a:endParaRP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838200" y="365125"/>
            <a:ext cx="10515600" cy="8444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sz="3600" dirty="0" smtClean="0"/>
              <a:t>認識您的印表機</a:t>
            </a:r>
            <a:endParaRPr lang="zh-TW" altLang="en-US" sz="36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EF07-459A-4CB9-B1F3-0734876A23B5}" type="slidenum">
              <a:rPr lang="zh-TW" altLang="en-US" smtClean="0"/>
              <a:t>4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79010929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內容版面配置區 3"/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63623" y="4487136"/>
            <a:ext cx="4022597" cy="2234339"/>
          </a:xfrm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885904" y="1892949"/>
            <a:ext cx="2633364" cy="1195240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7" name="圖片 6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6200000">
            <a:off x="7381317" y="2432044"/>
            <a:ext cx="2287838" cy="1195240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8" name="文字方塊 7"/>
          <p:cNvSpPr txBox="1"/>
          <p:nvPr/>
        </p:nvSpPr>
        <p:spPr>
          <a:xfrm>
            <a:off x="4097111" y="1329546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dirty="0" smtClean="0">
                <a:solidFill>
                  <a:srgbClr val="0000FF"/>
                </a:solidFill>
              </a:rPr>
              <a:t>直印</a:t>
            </a:r>
            <a:endParaRPr lang="zh-TW" altLang="en-US" sz="2800" dirty="0">
              <a:solidFill>
                <a:srgbClr val="0000FF"/>
              </a:solidFill>
            </a:endParaRPr>
          </a:p>
        </p:txBody>
      </p:sp>
      <p:sp>
        <p:nvSpPr>
          <p:cNvPr id="9" name="文字方塊 8"/>
          <p:cNvSpPr txBox="1"/>
          <p:nvPr/>
        </p:nvSpPr>
        <p:spPr>
          <a:xfrm>
            <a:off x="335528" y="3984290"/>
            <a:ext cx="398949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57200" indent="-457200">
              <a:buFont typeface="+mj-lt"/>
              <a:buAutoNum type="arabicPeriod"/>
            </a:pPr>
            <a:r>
              <a:rPr lang="zh-TW" altLang="en-US" sz="2400" dirty="0" smtClean="0">
                <a:solidFill>
                  <a:srgbClr val="FF0000"/>
                </a:solidFill>
              </a:rPr>
              <a:t>正面</a:t>
            </a:r>
            <a:r>
              <a:rPr lang="zh-TW" altLang="en-US" sz="2400" dirty="0" smtClean="0"/>
              <a:t>、</a:t>
            </a:r>
            <a:r>
              <a:rPr lang="zh-TW" altLang="en-US" sz="2400" dirty="0" smtClean="0">
                <a:solidFill>
                  <a:srgbClr val="FF0000"/>
                </a:solidFill>
              </a:rPr>
              <a:t>背面</a:t>
            </a:r>
            <a:r>
              <a:rPr lang="zh-TW" altLang="en-US" sz="2400" dirty="0" smtClean="0"/>
              <a:t>、</a:t>
            </a:r>
            <a:r>
              <a:rPr lang="zh-TW" altLang="en-US" sz="2400" dirty="0" smtClean="0">
                <a:solidFill>
                  <a:srgbClr val="0000FF"/>
                </a:solidFill>
              </a:rPr>
              <a:t>直印</a:t>
            </a:r>
            <a:r>
              <a:rPr lang="zh-TW" altLang="en-US" sz="2400" dirty="0" smtClean="0"/>
              <a:t>、</a:t>
            </a:r>
            <a:r>
              <a:rPr lang="zh-TW" altLang="en-US" sz="2400" dirty="0" smtClean="0">
                <a:solidFill>
                  <a:srgbClr val="0000FF"/>
                </a:solidFill>
              </a:rPr>
              <a:t>橫印</a:t>
            </a:r>
            <a:r>
              <a:rPr lang="zh-TW" altLang="en-US" sz="2400" dirty="0" smtClean="0"/>
              <a:t>要看印表機的設定。</a:t>
            </a:r>
            <a:endParaRPr lang="en-US" altLang="zh-TW" sz="2400" dirty="0"/>
          </a:p>
          <a:p>
            <a:pPr marL="457200" indent="-457200">
              <a:buFont typeface="+mj-lt"/>
              <a:buAutoNum type="arabicPeriod"/>
            </a:pPr>
            <a:r>
              <a:rPr lang="zh-TW" altLang="en-US" sz="2400" b="1" dirty="0" smtClean="0"/>
              <a:t>右邊這一台</a:t>
            </a:r>
            <a:r>
              <a:rPr lang="zh-TW" altLang="en-US" sz="2400" dirty="0" smtClean="0"/>
              <a:t>印表機要</a:t>
            </a:r>
            <a:r>
              <a:rPr lang="zh-TW" altLang="en-US" sz="2400" dirty="0" smtClean="0">
                <a:solidFill>
                  <a:srgbClr val="0000FF"/>
                </a:solidFill>
              </a:rPr>
              <a:t>背面</a:t>
            </a:r>
            <a:r>
              <a:rPr lang="zh-TW" altLang="en-US" sz="2400" dirty="0" smtClean="0"/>
              <a:t>進紙，而且要</a:t>
            </a:r>
            <a:r>
              <a:rPr lang="zh-TW" altLang="en-US" sz="2400" dirty="0" smtClean="0">
                <a:solidFill>
                  <a:srgbClr val="FF0000"/>
                </a:solidFill>
              </a:rPr>
              <a:t>橫印</a:t>
            </a:r>
            <a:r>
              <a:rPr lang="zh-TW" altLang="en-US" sz="2400" dirty="0" smtClean="0"/>
              <a:t>，才能順利套印。</a:t>
            </a:r>
            <a:endParaRPr lang="en-US" altLang="zh-TW" sz="2400" dirty="0" smtClean="0"/>
          </a:p>
          <a:p>
            <a:pPr marL="457200" indent="-457200">
              <a:buFont typeface="+mj-lt"/>
              <a:buAutoNum type="arabicPeriod"/>
            </a:pPr>
            <a:endParaRPr lang="zh-TW" altLang="en-US" sz="2400" dirty="0"/>
          </a:p>
        </p:txBody>
      </p:sp>
      <p:sp>
        <p:nvSpPr>
          <p:cNvPr id="10" name="向下箭號 9"/>
          <p:cNvSpPr/>
          <p:nvPr/>
        </p:nvSpPr>
        <p:spPr>
          <a:xfrm rot="19906562">
            <a:off x="5293752" y="3612257"/>
            <a:ext cx="484632" cy="74406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  <p:sp>
        <p:nvSpPr>
          <p:cNvPr id="13" name="文字方塊 12"/>
          <p:cNvSpPr txBox="1"/>
          <p:nvPr/>
        </p:nvSpPr>
        <p:spPr>
          <a:xfrm>
            <a:off x="8824672" y="1338345"/>
            <a:ext cx="902811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800" dirty="0" smtClean="0">
                <a:solidFill>
                  <a:srgbClr val="0000FF"/>
                </a:solidFill>
              </a:rPr>
              <a:t>橫印</a:t>
            </a:r>
            <a:endParaRPr lang="zh-TW" altLang="en-US" sz="2800" dirty="0">
              <a:solidFill>
                <a:srgbClr val="0000FF"/>
              </a:solidFill>
            </a:endParaRPr>
          </a:p>
        </p:txBody>
      </p:sp>
      <p:sp>
        <p:nvSpPr>
          <p:cNvPr id="17" name="標題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844489"/>
          </a:xfrm>
          <a:solidFill>
            <a:schemeClr val="accent6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algn="ctr"/>
            <a:r>
              <a:rPr lang="zh-TW" altLang="en-US" sz="3600" dirty="0"/>
              <a:t>將表格置入印表機後夾</a:t>
            </a:r>
            <a:r>
              <a:rPr lang="zh-TW" altLang="en-US" sz="3600" dirty="0" smtClean="0"/>
              <a:t>穩</a:t>
            </a:r>
            <a:r>
              <a:rPr lang="en-US" altLang="zh-TW" sz="2400" dirty="0" smtClean="0"/>
              <a:t>(1/2)</a:t>
            </a:r>
            <a:endParaRPr lang="zh-TW" altLang="en-US" sz="3600" dirty="0"/>
          </a:p>
        </p:txBody>
      </p:sp>
      <p:pic>
        <p:nvPicPr>
          <p:cNvPr id="2" name="圖片 1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47568" y="1852766"/>
            <a:ext cx="2698786" cy="1310527"/>
          </a:xfrm>
          <a:prstGeom prst="rect">
            <a:avLst/>
          </a:prstGeom>
        </p:spPr>
      </p:pic>
      <p:pic>
        <p:nvPicPr>
          <p:cNvPr id="14" name="圖片 1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5400000">
            <a:off x="8835979" y="2378641"/>
            <a:ext cx="2344677" cy="1310527"/>
          </a:xfrm>
          <a:prstGeom prst="rect">
            <a:avLst/>
          </a:prstGeom>
        </p:spPr>
      </p:pic>
      <p:sp>
        <p:nvSpPr>
          <p:cNvPr id="3" name="投影片編號版面配置區 2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EF07-459A-4CB9-B1F3-0734876A23B5}" type="slidenum">
              <a:rPr lang="zh-TW" altLang="en-US" smtClean="0"/>
              <a:t>5</a:t>
            </a:fld>
            <a:endParaRPr lang="zh-TW" altLang="en-US"/>
          </a:p>
        </p:txBody>
      </p:sp>
      <p:sp>
        <p:nvSpPr>
          <p:cNvPr id="15" name="文字方塊 14"/>
          <p:cNvSpPr txBox="1"/>
          <p:nvPr/>
        </p:nvSpPr>
        <p:spPr>
          <a:xfrm>
            <a:off x="2775896" y="223622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正面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6" name="文字方塊 15"/>
          <p:cNvSpPr txBox="1"/>
          <p:nvPr/>
        </p:nvSpPr>
        <p:spPr>
          <a:xfrm>
            <a:off x="5773795" y="2236228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背面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8" name="文字方塊 17"/>
          <p:cNvSpPr txBox="1"/>
          <p:nvPr/>
        </p:nvSpPr>
        <p:spPr>
          <a:xfrm>
            <a:off x="8217509" y="266033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正面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19" name="文字方塊 18"/>
          <p:cNvSpPr txBox="1"/>
          <p:nvPr/>
        </p:nvSpPr>
        <p:spPr>
          <a:xfrm>
            <a:off x="9685151" y="2660332"/>
            <a:ext cx="64633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>
                <a:solidFill>
                  <a:srgbClr val="FF0000"/>
                </a:solidFill>
              </a:rPr>
              <a:t>背面</a:t>
            </a:r>
            <a:endParaRPr lang="zh-TW" altLang="en-US" dirty="0">
              <a:solidFill>
                <a:srgbClr val="FF0000"/>
              </a:solidFill>
            </a:endParaRPr>
          </a:p>
        </p:txBody>
      </p:sp>
      <p:sp>
        <p:nvSpPr>
          <p:cNvPr id="20" name="向下箭號 19"/>
          <p:cNvSpPr/>
          <p:nvPr/>
        </p:nvSpPr>
        <p:spPr>
          <a:xfrm rot="1348941">
            <a:off x="6837873" y="3612257"/>
            <a:ext cx="484632" cy="74406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13393524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495425"/>
            <a:ext cx="10515600" cy="5163070"/>
          </a:xfrm>
        </p:spPr>
        <p:txBody>
          <a:bodyPr>
            <a:normAutofit fontScale="47500" lnSpcReduction="20000"/>
          </a:bodyPr>
          <a:lstStyle/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zh-TW" altLang="en-US" sz="5100" dirty="0"/>
              <a:t>因印表機的設計，而無法固定好表格於印表機的進紙位置時，可採下列應對應方式：</a:t>
            </a:r>
            <a:endParaRPr lang="en-US" altLang="zh-TW" sz="5100" dirty="0"/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en-US" altLang="zh-TW" sz="5100" dirty="0"/>
              <a:t>A4</a:t>
            </a:r>
            <a:r>
              <a:rPr lang="zh-TW" altLang="en-US" sz="5100" dirty="0"/>
              <a:t>紙張：</a:t>
            </a:r>
            <a:endParaRPr lang="en-US" altLang="zh-TW" sz="5100" dirty="0"/>
          </a:p>
          <a:p>
            <a:pPr marL="914400" lvl="1" indent="-457200">
              <a:lnSpc>
                <a:spcPct val="110000"/>
              </a:lnSpc>
              <a:buFont typeface="+mj-lt"/>
              <a:buAutoNum type="arabicParenR"/>
            </a:pPr>
            <a:r>
              <a:rPr lang="zh-TW" altLang="en-US" sz="4400" dirty="0"/>
              <a:t>直印：</a:t>
            </a:r>
            <a:r>
              <a:rPr lang="en-US" altLang="zh-TW" sz="4400" dirty="0"/>
              <a:t>210mm (</a:t>
            </a:r>
            <a:r>
              <a:rPr lang="zh-TW" altLang="en-US" sz="4400" dirty="0"/>
              <a:t>寬</a:t>
            </a:r>
            <a:r>
              <a:rPr lang="en-US" altLang="zh-TW" sz="4400" dirty="0"/>
              <a:t>) x 297mm (</a:t>
            </a:r>
            <a:r>
              <a:rPr lang="zh-TW" altLang="en-US" sz="4400" dirty="0"/>
              <a:t>長</a:t>
            </a:r>
            <a:r>
              <a:rPr lang="en-US" altLang="zh-TW" sz="4400" dirty="0"/>
              <a:t>)</a:t>
            </a:r>
          </a:p>
          <a:p>
            <a:pPr marL="914400" lvl="1" indent="-457200">
              <a:lnSpc>
                <a:spcPct val="110000"/>
              </a:lnSpc>
              <a:buFont typeface="+mj-lt"/>
              <a:buAutoNum type="arabicParenR"/>
            </a:pPr>
            <a:r>
              <a:rPr lang="zh-TW" altLang="en-US" sz="4400" dirty="0"/>
              <a:t>橫印：</a:t>
            </a:r>
            <a:r>
              <a:rPr lang="en-US" altLang="zh-TW" sz="4400" dirty="0"/>
              <a:t>210mm (</a:t>
            </a:r>
            <a:r>
              <a:rPr lang="zh-TW" altLang="en-US" sz="4400" dirty="0"/>
              <a:t>長</a:t>
            </a:r>
            <a:r>
              <a:rPr lang="en-US" altLang="zh-TW" sz="4400" dirty="0"/>
              <a:t>) x 297mm (</a:t>
            </a:r>
            <a:r>
              <a:rPr lang="zh-TW" altLang="en-US" sz="4400" dirty="0"/>
              <a:t>寬</a:t>
            </a:r>
            <a:r>
              <a:rPr lang="en-US" altLang="zh-TW" sz="4400" dirty="0"/>
              <a:t>)</a:t>
            </a:r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zh-TW" altLang="en-US" sz="5100" dirty="0"/>
              <a:t>橫印的使用時機：</a:t>
            </a:r>
            <a:endParaRPr lang="en-US" altLang="zh-TW" sz="5100" dirty="0"/>
          </a:p>
          <a:p>
            <a:pPr marL="914400" lvl="1" indent="-457200">
              <a:lnSpc>
                <a:spcPct val="110000"/>
              </a:lnSpc>
              <a:buFont typeface="+mj-lt"/>
              <a:buAutoNum type="arabicParenR"/>
            </a:pPr>
            <a:r>
              <a:rPr lang="zh-TW" altLang="en-US" sz="4400" dirty="0"/>
              <a:t>表格寬度比</a:t>
            </a:r>
            <a:r>
              <a:rPr lang="en-US" altLang="zh-TW" sz="4400" dirty="0"/>
              <a:t>A4</a:t>
            </a:r>
            <a:r>
              <a:rPr lang="zh-TW" altLang="en-US" sz="4400" dirty="0"/>
              <a:t>印表機的寬度還大，因此只能橫印。例如支票：</a:t>
            </a:r>
            <a:r>
              <a:rPr lang="en-US" altLang="zh-TW" sz="4400" dirty="0"/>
              <a:t>84.6mm(</a:t>
            </a:r>
            <a:r>
              <a:rPr lang="zh-TW" altLang="en-US" sz="4400" dirty="0"/>
              <a:t>長</a:t>
            </a:r>
            <a:r>
              <a:rPr lang="en-US" altLang="zh-TW" sz="4400" dirty="0"/>
              <a:t>) X 228mm(</a:t>
            </a:r>
            <a:r>
              <a:rPr lang="zh-TW" altLang="en-US" sz="4400" dirty="0"/>
              <a:t>寬</a:t>
            </a:r>
            <a:r>
              <a:rPr lang="en-US" altLang="zh-TW" sz="4400" dirty="0"/>
              <a:t>)</a:t>
            </a:r>
          </a:p>
          <a:p>
            <a:pPr marL="914400" lvl="1" indent="-457200">
              <a:lnSpc>
                <a:spcPct val="110000"/>
              </a:lnSpc>
              <a:buFont typeface="+mj-lt"/>
              <a:buAutoNum type="arabicParenR"/>
            </a:pPr>
            <a:r>
              <a:rPr lang="zh-TW" altLang="en-US" sz="4400" dirty="0"/>
              <a:t>直印時因為表格長短</a:t>
            </a:r>
            <a:r>
              <a:rPr lang="en-US" altLang="zh-TW" sz="4400" dirty="0"/>
              <a:t>(</a:t>
            </a:r>
            <a:r>
              <a:rPr lang="zh-TW" altLang="en-US" sz="4400" dirty="0"/>
              <a:t>進紙長度不夠</a:t>
            </a:r>
            <a:r>
              <a:rPr lang="en-US" altLang="zh-TW" sz="4400" dirty="0"/>
              <a:t>)</a:t>
            </a:r>
            <a:r>
              <a:rPr lang="zh-TW" altLang="en-US" sz="4400" dirty="0"/>
              <a:t>會有進紙歪斜的情形。</a:t>
            </a:r>
            <a:endParaRPr lang="en-US" altLang="zh-TW" sz="4400" dirty="0"/>
          </a:p>
          <a:p>
            <a:pPr marL="514350" indent="-514350">
              <a:lnSpc>
                <a:spcPct val="110000"/>
              </a:lnSpc>
              <a:buFont typeface="+mj-lt"/>
              <a:buAutoNum type="arabicPeriod"/>
            </a:pPr>
            <a:r>
              <a:rPr lang="zh-TW" altLang="en-US" sz="5100" dirty="0"/>
              <a:t>自動進紙匣夾紙的最小寬度比表格大，有</a:t>
            </a:r>
            <a:r>
              <a:rPr lang="en-US" altLang="zh-TW" sz="5100" dirty="0"/>
              <a:t>3</a:t>
            </a:r>
            <a:r>
              <a:rPr lang="zh-TW" altLang="en-US" sz="5100" dirty="0"/>
              <a:t>個方法處理。</a:t>
            </a:r>
            <a:endParaRPr lang="en-US" altLang="zh-TW" sz="5100" dirty="0"/>
          </a:p>
          <a:p>
            <a:pPr marL="914400" lvl="1" indent="-457200">
              <a:lnSpc>
                <a:spcPct val="110000"/>
              </a:lnSpc>
              <a:buFont typeface="+mj-lt"/>
              <a:buAutoNum type="arabicParenR"/>
            </a:pPr>
            <a:r>
              <a:rPr lang="zh-TW" altLang="en-US" sz="4400" dirty="0"/>
              <a:t>改用其他送紙匣：例如手動送紙匣</a:t>
            </a:r>
            <a:endParaRPr lang="en-US" altLang="zh-TW" sz="4400" dirty="0"/>
          </a:p>
          <a:p>
            <a:pPr marL="914400" lvl="1" indent="-457200">
              <a:lnSpc>
                <a:spcPct val="110000"/>
              </a:lnSpc>
              <a:buFont typeface="+mj-lt"/>
              <a:buAutoNum type="arabicParenR"/>
            </a:pPr>
            <a:r>
              <a:rPr lang="zh-TW" altLang="en-US" sz="4400" dirty="0"/>
              <a:t>製作靠板：將靠板固定於印表機進送匣內，讓印表機可以夾穩支票。</a:t>
            </a:r>
            <a:endParaRPr lang="en-US" altLang="zh-TW" sz="4400" dirty="0"/>
          </a:p>
          <a:p>
            <a:pPr marL="914400" lvl="1" indent="-457200">
              <a:lnSpc>
                <a:spcPct val="110000"/>
              </a:lnSpc>
              <a:buFont typeface="+mj-lt"/>
              <a:buAutoNum type="arabicParenR"/>
            </a:pPr>
            <a:r>
              <a:rPr lang="zh-TW" altLang="en-US" sz="4400" dirty="0"/>
              <a:t>靠左進紙：常見於平面式進紙的點陣式印表機，只能靠左邊進紙。</a:t>
            </a:r>
            <a:endParaRPr lang="en-US" altLang="zh-TW" sz="4400" dirty="0"/>
          </a:p>
          <a:p>
            <a:endParaRPr lang="zh-TW" altLang="en-US" dirty="0"/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838200" y="365125"/>
            <a:ext cx="10515600" cy="8444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sz="3600" dirty="0" smtClean="0"/>
              <a:t>將</a:t>
            </a:r>
            <a:r>
              <a:rPr lang="zh-TW" altLang="en-US" sz="3600" dirty="0"/>
              <a:t>表格置入印表機後夾穩</a:t>
            </a:r>
            <a:r>
              <a:rPr lang="en-US" altLang="zh-TW" sz="2400" dirty="0" smtClean="0"/>
              <a:t>(2/2</a:t>
            </a:r>
            <a:r>
              <a:rPr lang="en-US" altLang="zh-TW" sz="2400" dirty="0"/>
              <a:t>)</a:t>
            </a:r>
            <a:endParaRPr lang="zh-TW" altLang="en-US" sz="36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EF07-459A-4CB9-B1F3-0734876A23B5}" type="slidenum">
              <a:rPr lang="zh-TW" altLang="en-US" smtClean="0"/>
              <a:t>6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6299855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495425"/>
            <a:ext cx="10515600" cy="4681538"/>
          </a:xfrm>
        </p:spPr>
        <p:txBody>
          <a:bodyPr>
            <a:normAutofit fontScale="85000" lnSpcReduction="10000"/>
          </a:bodyPr>
          <a:lstStyle/>
          <a:p>
            <a:pPr marL="514350" indent="-514350">
              <a:lnSpc>
                <a:spcPts val="24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TW" altLang="zh-TW" dirty="0"/>
              <a:t>要最快做好套印測試，就請從單張</a:t>
            </a:r>
            <a:r>
              <a:rPr lang="zh-TW" altLang="en-US" dirty="0"/>
              <a:t>、</a:t>
            </a:r>
            <a:r>
              <a:rPr lang="zh-TW" altLang="zh-TW" dirty="0"/>
              <a:t>現成</a:t>
            </a:r>
            <a:r>
              <a:rPr lang="zh-TW" altLang="en-US" dirty="0"/>
              <a:t>的表格開始</a:t>
            </a:r>
            <a:r>
              <a:rPr lang="en-US" altLang="zh-TW" dirty="0"/>
              <a:t>(</a:t>
            </a:r>
            <a:r>
              <a:rPr lang="zh-TW" altLang="zh-TW" dirty="0"/>
              <a:t>例如存款單</a:t>
            </a:r>
            <a:r>
              <a:rPr lang="en-US" altLang="zh-TW" dirty="0"/>
              <a:t>)</a:t>
            </a:r>
            <a:r>
              <a:rPr lang="zh-TW" altLang="en-US" dirty="0"/>
              <a:t>，先</a:t>
            </a:r>
            <a:r>
              <a:rPr lang="zh-TW" altLang="zh-TW" dirty="0"/>
              <a:t>不用</a:t>
            </a:r>
            <a:r>
              <a:rPr lang="zh-TW" altLang="en-US" dirty="0"/>
              <a:t>需要</a:t>
            </a:r>
            <a:r>
              <a:rPr lang="zh-TW" altLang="zh-TW" dirty="0"/>
              <a:t>影印剪裁</a:t>
            </a:r>
            <a:r>
              <a:rPr lang="zh-TW" altLang="en-US" dirty="0"/>
              <a:t>表格</a:t>
            </a:r>
            <a:r>
              <a:rPr lang="en-US" altLang="zh-TW" dirty="0"/>
              <a:t>(</a:t>
            </a:r>
            <a:r>
              <a:rPr lang="zh-TW" altLang="zh-TW" dirty="0"/>
              <a:t>例如支票</a:t>
            </a:r>
            <a:r>
              <a:rPr lang="en-US" altLang="zh-TW" dirty="0"/>
              <a:t>)</a:t>
            </a:r>
            <a:r>
              <a:rPr lang="zh-TW" altLang="en-US" dirty="0"/>
              <a:t>做測試</a:t>
            </a:r>
            <a:r>
              <a:rPr lang="zh-TW" altLang="zh-TW" dirty="0"/>
              <a:t>，當一種表格套印正確，建立了使用觀念後，其他的表格就沒有問題了，這樣做才會最節省您的時間。</a:t>
            </a:r>
          </a:p>
          <a:p>
            <a:pPr marL="514350" lvl="0" indent="-514350">
              <a:lnSpc>
                <a:spcPts val="24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TW" altLang="zh-TW" dirty="0"/>
              <a:t>先印</a:t>
            </a:r>
            <a:r>
              <a:rPr lang="en-US" altLang="zh-TW" dirty="0"/>
              <a:t>1</a:t>
            </a:r>
            <a:r>
              <a:rPr lang="zh-TW" altLang="zh-TW" dirty="0"/>
              <a:t>張吧。</a:t>
            </a:r>
          </a:p>
          <a:p>
            <a:pPr marL="914400" lvl="1" indent="-457200">
              <a:lnSpc>
                <a:spcPts val="2400"/>
              </a:lnSpc>
              <a:spcBef>
                <a:spcPts val="0"/>
              </a:spcBef>
              <a:buFont typeface="+mj-lt"/>
              <a:buAutoNum type="arabicParenR"/>
            </a:pPr>
            <a:r>
              <a:rPr lang="zh-TW" altLang="zh-TW" dirty="0" smtClean="0"/>
              <a:t>開啟</a:t>
            </a:r>
            <a:r>
              <a:rPr lang="zh-TW" altLang="en-US" dirty="0" smtClean="0"/>
              <a:t>「表格套印管理系統」</a:t>
            </a:r>
            <a:r>
              <a:rPr lang="zh-TW" altLang="zh-TW" dirty="0" smtClean="0"/>
              <a:t>程式</a:t>
            </a:r>
            <a:r>
              <a:rPr lang="en-US" altLang="zh-TW" dirty="0" smtClean="0"/>
              <a:t> </a:t>
            </a:r>
            <a:r>
              <a:rPr lang="en-US" altLang="zh-TW" dirty="0"/>
              <a:t> </a:t>
            </a:r>
            <a:r>
              <a:rPr lang="en-US" altLang="zh-TW" dirty="0" smtClean="0"/>
              <a:t>&gt; </a:t>
            </a:r>
            <a:r>
              <a:rPr lang="zh-TW" altLang="zh-TW" dirty="0" smtClean="0"/>
              <a:t>點選</a:t>
            </a:r>
            <a:r>
              <a:rPr lang="zh-TW" altLang="zh-TW" dirty="0"/>
              <a:t>您要套印的表格。</a:t>
            </a:r>
            <a:endParaRPr lang="zh-TW" altLang="zh-TW" sz="2000" dirty="0"/>
          </a:p>
          <a:p>
            <a:pPr marL="914400" lvl="1" indent="-457200">
              <a:lnSpc>
                <a:spcPts val="2400"/>
              </a:lnSpc>
              <a:spcBef>
                <a:spcPts val="0"/>
              </a:spcBef>
              <a:buFont typeface="+mj-lt"/>
              <a:buAutoNum type="arabicParenR"/>
            </a:pPr>
            <a:r>
              <a:rPr lang="zh-TW" altLang="zh-TW" dirty="0"/>
              <a:t>輸入資料後</a:t>
            </a:r>
            <a:r>
              <a:rPr lang="zh-TW" altLang="zh-TW" dirty="0" smtClean="0"/>
              <a:t>列印</a:t>
            </a:r>
            <a:r>
              <a:rPr lang="zh-TW" altLang="en-US" dirty="0" smtClean="0"/>
              <a:t>。</a:t>
            </a:r>
            <a:endParaRPr lang="zh-TW" altLang="zh-TW" sz="2000" dirty="0"/>
          </a:p>
          <a:p>
            <a:pPr marL="514350" indent="-514350">
              <a:lnSpc>
                <a:spcPts val="24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TW" altLang="en-US" dirty="0"/>
              <a:t>備註：</a:t>
            </a:r>
            <a:endParaRPr lang="zh-TW" altLang="zh-TW" dirty="0"/>
          </a:p>
          <a:p>
            <a:pPr marL="914400" lvl="1" indent="-457200">
              <a:lnSpc>
                <a:spcPts val="2400"/>
              </a:lnSpc>
              <a:spcBef>
                <a:spcPts val="0"/>
              </a:spcBef>
              <a:buFont typeface="+mj-lt"/>
              <a:buAutoNum type="arabicParenR"/>
            </a:pPr>
            <a:r>
              <a:rPr lang="zh-TW" altLang="en-US" dirty="0"/>
              <a:t>若未</a:t>
            </a:r>
            <a:r>
              <a:rPr lang="zh-TW" altLang="zh-TW" dirty="0"/>
              <a:t>勾選預覽列印</a:t>
            </a:r>
            <a:r>
              <a:rPr lang="zh-TW" altLang="en-US" dirty="0"/>
              <a:t>的情況下</a:t>
            </a:r>
            <a:r>
              <a:rPr lang="zh-TW" altLang="zh-TW" dirty="0"/>
              <a:t>，本軟體是一個循環式的操作，您可以一直按</a:t>
            </a:r>
            <a:r>
              <a:rPr lang="en-US" altLang="zh-TW" dirty="0"/>
              <a:t>Enter</a:t>
            </a:r>
            <a:r>
              <a:rPr lang="zh-TW" altLang="zh-TW" dirty="0"/>
              <a:t>鍵，就</a:t>
            </a:r>
            <a:r>
              <a:rPr lang="zh-TW" altLang="en-US" dirty="0"/>
              <a:t>可</a:t>
            </a:r>
            <a:r>
              <a:rPr lang="zh-TW" altLang="zh-TW" dirty="0"/>
              <a:t>完成「輸入</a:t>
            </a:r>
            <a:r>
              <a:rPr lang="en-US" altLang="zh-TW" dirty="0"/>
              <a:t> &gt; </a:t>
            </a:r>
            <a:r>
              <a:rPr lang="zh-TW" altLang="zh-TW" dirty="0"/>
              <a:t>套印</a:t>
            </a:r>
            <a:r>
              <a:rPr lang="en-US" altLang="zh-TW" dirty="0"/>
              <a:t> &gt; </a:t>
            </a:r>
            <a:r>
              <a:rPr lang="zh-TW" altLang="zh-TW" dirty="0"/>
              <a:t>存檔</a:t>
            </a:r>
            <a:r>
              <a:rPr lang="en-US" altLang="zh-TW" dirty="0"/>
              <a:t> &gt; </a:t>
            </a:r>
            <a:r>
              <a:rPr lang="zh-TW" altLang="en-US" dirty="0"/>
              <a:t>新增 </a:t>
            </a:r>
            <a:r>
              <a:rPr lang="en-US" altLang="zh-TW" dirty="0"/>
              <a:t>&gt; </a:t>
            </a:r>
            <a:r>
              <a:rPr lang="zh-TW" altLang="en-US" dirty="0"/>
              <a:t>輸入 </a:t>
            </a:r>
            <a:r>
              <a:rPr lang="en-US" altLang="zh-TW" dirty="0"/>
              <a:t>&gt; </a:t>
            </a:r>
            <a:r>
              <a:rPr lang="zh-TW" altLang="en-US" dirty="0"/>
              <a:t>套印 </a:t>
            </a:r>
            <a:r>
              <a:rPr lang="en-US" altLang="zh-TW" dirty="0"/>
              <a:t>&gt;…(</a:t>
            </a:r>
            <a:r>
              <a:rPr lang="zh-TW" altLang="en-US" dirty="0"/>
              <a:t>無限循環</a:t>
            </a:r>
            <a:r>
              <a:rPr lang="zh-TW" altLang="zh-TW" dirty="0"/>
              <a:t>」。</a:t>
            </a:r>
            <a:endParaRPr lang="en-US" altLang="zh-TW" dirty="0"/>
          </a:p>
          <a:p>
            <a:pPr marL="914400" lvl="1" indent="-457200">
              <a:lnSpc>
                <a:spcPts val="2400"/>
              </a:lnSpc>
              <a:spcBef>
                <a:spcPts val="0"/>
              </a:spcBef>
              <a:buFont typeface="+mj-lt"/>
              <a:buAutoNum type="arabicParenR"/>
            </a:pPr>
            <a:r>
              <a:rPr lang="zh-TW" altLang="en-US" dirty="0"/>
              <a:t>在列印或</a:t>
            </a:r>
            <a:r>
              <a:rPr lang="en-US" altLang="zh-TW" dirty="0"/>
              <a:t>(</a:t>
            </a:r>
            <a:r>
              <a:rPr lang="zh-TW" altLang="en-US" dirty="0"/>
              <a:t>預覽列印</a:t>
            </a:r>
            <a:r>
              <a:rPr lang="en-US" altLang="zh-TW" dirty="0"/>
              <a:t>)</a:t>
            </a:r>
            <a:r>
              <a:rPr lang="zh-TW" altLang="en-US" dirty="0"/>
              <a:t>後，為提昇輸入效率，系統會自動清除您之前的輸入資料，並進入下一筆輸入，如果您想保留您輸入的資料，請將「進階設定 </a:t>
            </a:r>
            <a:r>
              <a:rPr lang="en-US" altLang="zh-TW" dirty="0"/>
              <a:t>&gt; </a:t>
            </a:r>
            <a:r>
              <a:rPr lang="zh-TW" altLang="en-US" dirty="0"/>
              <a:t>保留輸入資料」打勾即可。</a:t>
            </a:r>
            <a:endParaRPr lang="en-US" altLang="zh-TW" dirty="0"/>
          </a:p>
          <a:p>
            <a:pPr marL="914400" lvl="1" indent="-457200">
              <a:lnSpc>
                <a:spcPts val="2400"/>
              </a:lnSpc>
              <a:spcBef>
                <a:spcPts val="0"/>
              </a:spcBef>
              <a:buFont typeface="+mj-lt"/>
              <a:buAutoNum type="arabicParenR"/>
            </a:pPr>
            <a:r>
              <a:rPr lang="zh-TW" altLang="en-US" dirty="0"/>
              <a:t>任何表格列印後都會自動存檔，您可以直接取用修改或製作成範本。</a:t>
            </a:r>
            <a:endParaRPr lang="en-US" altLang="zh-TW" dirty="0"/>
          </a:p>
          <a:p>
            <a:pPr marL="914400" lvl="1" indent="-457200">
              <a:lnSpc>
                <a:spcPts val="2400"/>
              </a:lnSpc>
              <a:spcBef>
                <a:spcPts val="0"/>
              </a:spcBef>
              <a:buFont typeface="+mj-lt"/>
              <a:buAutoNum type="arabicParenR"/>
            </a:pPr>
            <a:r>
              <a:rPr lang="zh-TW" altLang="en-US" dirty="0"/>
              <a:t>因為表格要符合大家用，因此只設定常用的功能，本軟體提供自行客制化的功能，例如計算、限定數字、帶入指定資料</a:t>
            </a:r>
            <a:r>
              <a:rPr lang="en-US" altLang="zh-TW" dirty="0"/>
              <a:t>… </a:t>
            </a:r>
            <a:r>
              <a:rPr lang="zh-TW" altLang="en-US" dirty="0"/>
              <a:t>等。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838200" y="365125"/>
            <a:ext cx="10515600" cy="8444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sz="3600" dirty="0" smtClean="0"/>
              <a:t>套印測試</a:t>
            </a:r>
            <a:r>
              <a:rPr lang="en-US" altLang="zh-TW" sz="3600" dirty="0" smtClean="0"/>
              <a:t>-</a:t>
            </a:r>
            <a:r>
              <a:rPr lang="zh-TW" altLang="en-US" sz="3600" dirty="0" smtClean="0"/>
              <a:t>前言</a:t>
            </a:r>
            <a:endParaRPr lang="zh-TW" altLang="en-US" sz="36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EF07-459A-4CB9-B1F3-0734876A23B5}" type="slidenum">
              <a:rPr lang="zh-TW" altLang="en-US" smtClean="0"/>
              <a:t>7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8218387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內容版面配置區 4"/>
          <p:cNvPicPr>
            <a:picLocks noGrp="1" noChangeAspect="1"/>
          </p:cNvPicPr>
          <p:nvPr>
            <p:ph idx="1"/>
          </p:nvPr>
        </p:nvPicPr>
        <p:blipFill>
          <a:blip r:embed="rId2"/>
          <a:stretch>
            <a:fillRect/>
          </a:stretch>
        </p:blipFill>
        <p:spPr>
          <a:xfrm>
            <a:off x="838200" y="1503737"/>
            <a:ext cx="6415676" cy="4681538"/>
          </a:xfrm>
          <a:prstGeom prst="rect">
            <a:avLst/>
          </a:prstGeom>
        </p:spPr>
      </p:pic>
      <p:sp>
        <p:nvSpPr>
          <p:cNvPr id="4" name="標題 1"/>
          <p:cNvSpPr txBox="1">
            <a:spLocks/>
          </p:cNvSpPr>
          <p:nvPr/>
        </p:nvSpPr>
        <p:spPr>
          <a:xfrm>
            <a:off x="838200" y="365125"/>
            <a:ext cx="10515600" cy="8444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sz="3600" dirty="0" smtClean="0"/>
              <a:t>套印測試</a:t>
            </a:r>
            <a:r>
              <a:rPr lang="en-US" altLang="zh-TW" sz="3600" dirty="0" smtClean="0"/>
              <a:t>-</a:t>
            </a:r>
            <a:r>
              <a:rPr lang="zh-TW" altLang="en-US" sz="3600" dirty="0" smtClean="0"/>
              <a:t>會用到的功能</a:t>
            </a:r>
            <a:endParaRPr lang="zh-TW" altLang="en-US" sz="36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EF07-459A-4CB9-B1F3-0734876A23B5}" type="slidenum">
              <a:rPr lang="zh-TW" altLang="en-US" smtClean="0"/>
              <a:t>8</a:t>
            </a:fld>
            <a:endParaRPr lang="zh-TW" altLang="en-US"/>
          </a:p>
        </p:txBody>
      </p:sp>
      <p:sp>
        <p:nvSpPr>
          <p:cNvPr id="6" name="文字方塊 5"/>
          <p:cNvSpPr txBox="1"/>
          <p:nvPr/>
        </p:nvSpPr>
        <p:spPr>
          <a:xfrm>
            <a:off x="2444285" y="6294732"/>
            <a:ext cx="226215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套印軟體的主要視窗</a:t>
            </a:r>
            <a:endParaRPr lang="zh-TW" altLang="en-US" dirty="0"/>
          </a:p>
        </p:txBody>
      </p:sp>
      <p:sp>
        <p:nvSpPr>
          <p:cNvPr id="3" name="文字方塊 2"/>
          <p:cNvSpPr txBox="1"/>
          <p:nvPr/>
        </p:nvSpPr>
        <p:spPr>
          <a:xfrm>
            <a:off x="7722524" y="1503737"/>
            <a:ext cx="3631276" cy="5293757"/>
          </a:xfrm>
          <a:prstGeom prst="rect">
            <a:avLst/>
          </a:prstGeom>
          <a:noFill/>
          <a:effectLst>
            <a:glow rad="1905000">
              <a:schemeClr val="tx1"/>
            </a:glow>
          </a:effectLst>
        </p:spPr>
        <p:txBody>
          <a:bodyPr wrap="square" rtlCol="0">
            <a:spAutoFit/>
          </a:bodyPr>
          <a:lstStyle/>
          <a:p>
            <a:pPr marL="342900" indent="-342900">
              <a:buFont typeface="+mj-lt"/>
              <a:buAutoNum type="arabicPeriod"/>
            </a:pPr>
            <a:r>
              <a:rPr lang="zh-TW" altLang="en-US" sz="2000" b="1" dirty="0" smtClean="0">
                <a:latin typeface="+mn-ea"/>
              </a:rPr>
              <a:t>常用</a:t>
            </a:r>
            <a:endParaRPr lang="en-US" altLang="zh-TW" sz="2000" b="1" dirty="0" smtClean="0">
              <a:latin typeface="+mn-ea"/>
            </a:endParaRPr>
          </a:p>
          <a:p>
            <a:pPr marL="800100" lvl="1" indent="-342900">
              <a:buFont typeface="+mj-lt"/>
              <a:buAutoNum type="arabicParenR"/>
            </a:pPr>
            <a:r>
              <a:rPr lang="zh-TW" altLang="en-US" dirty="0" smtClean="0">
                <a:latin typeface="+mn-ea"/>
              </a:rPr>
              <a:t>表格引用：約有</a:t>
            </a:r>
            <a:r>
              <a:rPr lang="en-US" altLang="zh-TW" dirty="0" smtClean="0">
                <a:solidFill>
                  <a:srgbClr val="0000FF"/>
                </a:solidFill>
                <a:latin typeface="+mn-ea"/>
              </a:rPr>
              <a:t>300</a:t>
            </a:r>
            <a:r>
              <a:rPr lang="zh-TW" altLang="en-US" dirty="0" smtClean="0">
                <a:solidFill>
                  <a:srgbClr val="0000FF"/>
                </a:solidFill>
                <a:latin typeface="+mn-ea"/>
              </a:rPr>
              <a:t>種</a:t>
            </a:r>
            <a:r>
              <a:rPr lang="zh-TW" altLang="en-US" dirty="0" smtClean="0">
                <a:latin typeface="+mn-ea"/>
              </a:rPr>
              <a:t>的表格設定檔，</a:t>
            </a:r>
            <a:r>
              <a:rPr lang="zh-TW" altLang="en-US" dirty="0" smtClean="0">
                <a:solidFill>
                  <a:srgbClr val="0000FF"/>
                </a:solidFill>
                <a:latin typeface="+mn-ea"/>
              </a:rPr>
              <a:t>引用即可套印</a:t>
            </a:r>
            <a:r>
              <a:rPr lang="zh-TW" altLang="en-US" dirty="0" smtClean="0">
                <a:latin typeface="+mn-ea"/>
              </a:rPr>
              <a:t>。</a:t>
            </a:r>
            <a:endParaRPr lang="en-US" altLang="zh-TW" dirty="0" smtClean="0">
              <a:latin typeface="+mn-ea"/>
            </a:endParaRPr>
          </a:p>
          <a:p>
            <a:pPr marL="800100" lvl="1" indent="-342900">
              <a:buFont typeface="+mj-lt"/>
              <a:buAutoNum type="arabicParenR"/>
            </a:pPr>
            <a:r>
              <a:rPr lang="zh-TW" altLang="en-US" dirty="0" smtClean="0">
                <a:latin typeface="+mn-ea"/>
              </a:rPr>
              <a:t>基本資料：輸入</a:t>
            </a:r>
            <a:r>
              <a:rPr lang="zh-TW" altLang="en-US" dirty="0" smtClean="0">
                <a:solidFill>
                  <a:srgbClr val="0000FF"/>
                </a:solidFill>
                <a:latin typeface="+mn-ea"/>
              </a:rPr>
              <a:t>您的相關資料</a:t>
            </a:r>
            <a:r>
              <a:rPr lang="zh-TW" altLang="en-US" dirty="0" smtClean="0">
                <a:latin typeface="+mn-ea"/>
              </a:rPr>
              <a:t>，並建立</a:t>
            </a:r>
            <a:r>
              <a:rPr lang="zh-TW" altLang="en-US" dirty="0" smtClean="0">
                <a:solidFill>
                  <a:srgbClr val="0000FF"/>
                </a:solidFill>
                <a:latin typeface="+mn-ea"/>
              </a:rPr>
              <a:t>帳號</a:t>
            </a:r>
            <a:r>
              <a:rPr lang="zh-TW" altLang="en-US" dirty="0" smtClean="0">
                <a:latin typeface="+mn-ea"/>
              </a:rPr>
              <a:t>資料。</a:t>
            </a:r>
            <a:endParaRPr lang="en-US" altLang="zh-TW" dirty="0" smtClean="0">
              <a:latin typeface="+mn-ea"/>
            </a:endParaRPr>
          </a:p>
          <a:p>
            <a:pPr marL="800100" lvl="1" indent="-342900">
              <a:buFont typeface="+mj-lt"/>
              <a:buAutoNum type="arabicParenR"/>
            </a:pPr>
            <a:r>
              <a:rPr lang="zh-TW" altLang="en-US" dirty="0" smtClean="0">
                <a:latin typeface="+mn-ea"/>
              </a:rPr>
              <a:t>印表機：</a:t>
            </a:r>
            <a:r>
              <a:rPr lang="zh-TW" altLang="en-US" dirty="0" smtClean="0">
                <a:solidFill>
                  <a:srgbClr val="FF0000"/>
                </a:solidFill>
                <a:latin typeface="+mn-ea"/>
              </a:rPr>
              <a:t>每一種表格都要</a:t>
            </a:r>
            <a:r>
              <a:rPr lang="en-US" altLang="zh-TW" dirty="0" smtClean="0">
                <a:solidFill>
                  <a:srgbClr val="FF0000"/>
                </a:solidFill>
                <a:latin typeface="+mn-ea"/>
              </a:rPr>
              <a:t>(</a:t>
            </a:r>
            <a:r>
              <a:rPr lang="zh-TW" altLang="en-US" dirty="0" smtClean="0">
                <a:solidFill>
                  <a:srgbClr val="FF0000"/>
                </a:solidFill>
                <a:latin typeface="+mn-ea"/>
              </a:rPr>
              <a:t>分別</a:t>
            </a:r>
            <a:r>
              <a:rPr lang="en-US" altLang="zh-TW" dirty="0" smtClean="0">
                <a:solidFill>
                  <a:srgbClr val="FF0000"/>
                </a:solidFill>
                <a:latin typeface="+mn-ea"/>
              </a:rPr>
              <a:t>)</a:t>
            </a:r>
            <a:r>
              <a:rPr lang="zh-TW" altLang="en-US" dirty="0" smtClean="0">
                <a:solidFill>
                  <a:srgbClr val="FF0000"/>
                </a:solidFill>
                <a:latin typeface="+mn-ea"/>
              </a:rPr>
              <a:t>設定</a:t>
            </a:r>
            <a:r>
              <a:rPr lang="zh-TW" altLang="en-US" dirty="0" smtClean="0">
                <a:solidFill>
                  <a:srgbClr val="0000FF"/>
                </a:solidFill>
                <a:latin typeface="+mn-ea"/>
              </a:rPr>
              <a:t>印表機</a:t>
            </a:r>
            <a:r>
              <a:rPr lang="zh-TW" altLang="en-US" dirty="0" smtClean="0">
                <a:latin typeface="+mn-ea"/>
              </a:rPr>
              <a:t>、</a:t>
            </a:r>
            <a:r>
              <a:rPr lang="zh-TW" altLang="en-US" dirty="0" smtClean="0">
                <a:solidFill>
                  <a:srgbClr val="0000FF"/>
                </a:solidFill>
                <a:latin typeface="+mn-ea"/>
              </a:rPr>
              <a:t>邊界</a:t>
            </a:r>
            <a:r>
              <a:rPr lang="en-US" altLang="zh-TW" dirty="0" smtClean="0">
                <a:latin typeface="+mn-ea"/>
              </a:rPr>
              <a:t>(</a:t>
            </a:r>
            <a:r>
              <a:rPr lang="zh-TW" altLang="en-US" dirty="0" smtClean="0">
                <a:solidFill>
                  <a:schemeClr val="accent2">
                    <a:lumMod val="75000"/>
                  </a:schemeClr>
                </a:solidFill>
                <a:latin typeface="+mn-ea"/>
              </a:rPr>
              <a:t>整體位置偏移</a:t>
            </a:r>
            <a:r>
              <a:rPr lang="en-US" altLang="zh-TW" dirty="0" smtClean="0">
                <a:latin typeface="+mn-ea"/>
              </a:rPr>
              <a:t>)</a:t>
            </a:r>
            <a:r>
              <a:rPr lang="zh-TW" altLang="en-US" dirty="0" smtClean="0">
                <a:latin typeface="+mn-ea"/>
              </a:rPr>
              <a:t>。 </a:t>
            </a:r>
            <a:endParaRPr lang="en-US" altLang="zh-TW" dirty="0" smtClean="0">
              <a:latin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2000" b="1" dirty="0" smtClean="0">
                <a:latin typeface="+mn-ea"/>
              </a:rPr>
              <a:t>表格</a:t>
            </a:r>
            <a:r>
              <a:rPr lang="zh-TW" altLang="en-US" sz="2000" dirty="0" smtClean="0">
                <a:latin typeface="+mn-ea"/>
              </a:rPr>
              <a:t>：</a:t>
            </a:r>
            <a:endParaRPr lang="en-US" altLang="zh-TW" sz="2000" dirty="0" smtClean="0">
              <a:latin typeface="+mn-ea"/>
            </a:endParaRPr>
          </a:p>
          <a:p>
            <a:pPr lvl="1"/>
            <a:r>
              <a:rPr lang="zh-TW" altLang="en-US" dirty="0" smtClean="0">
                <a:latin typeface="+mn-ea"/>
              </a:rPr>
              <a:t>套印設計：編輯套印內容、依</a:t>
            </a:r>
            <a:r>
              <a:rPr lang="zh-TW" altLang="en-US" b="1" dirty="0" smtClean="0">
                <a:latin typeface="+mn-ea"/>
              </a:rPr>
              <a:t>各別套印項目</a:t>
            </a:r>
            <a:r>
              <a:rPr lang="zh-TW" altLang="en-US" dirty="0" smtClean="0">
                <a:solidFill>
                  <a:schemeClr val="accent2">
                    <a:lumMod val="75000"/>
                  </a:schemeClr>
                </a:solidFill>
                <a:latin typeface="+mn-ea"/>
              </a:rPr>
              <a:t>改變套印位置</a:t>
            </a:r>
            <a:r>
              <a:rPr lang="zh-TW" altLang="en-US" dirty="0" smtClean="0">
                <a:latin typeface="+mn-ea"/>
              </a:rPr>
              <a:t>、</a:t>
            </a:r>
            <a:r>
              <a:rPr lang="zh-TW" altLang="en-US" dirty="0" smtClean="0">
                <a:solidFill>
                  <a:schemeClr val="accent2">
                    <a:lumMod val="75000"/>
                  </a:schemeClr>
                </a:solidFill>
                <a:latin typeface="+mn-ea"/>
              </a:rPr>
              <a:t>大小</a:t>
            </a:r>
            <a:r>
              <a:rPr lang="zh-TW" altLang="en-US" dirty="0" smtClean="0">
                <a:latin typeface="+mn-ea"/>
              </a:rPr>
              <a:t>。</a:t>
            </a:r>
            <a:endParaRPr lang="en-US" altLang="zh-TW" dirty="0" smtClean="0">
              <a:latin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2000" b="1" dirty="0" smtClean="0">
                <a:effectLst>
                  <a:glow>
                    <a:schemeClr val="accent6">
                      <a:lumMod val="60000"/>
                      <a:lumOff val="40000"/>
                    </a:schemeClr>
                  </a:glow>
                </a:effectLst>
                <a:latin typeface="+mn-ea"/>
              </a:rPr>
              <a:t>支援</a:t>
            </a:r>
            <a:r>
              <a:rPr lang="zh-TW" altLang="en-US" sz="2000" dirty="0" smtClean="0">
                <a:latin typeface="+mn-ea"/>
              </a:rPr>
              <a:t>：</a:t>
            </a:r>
            <a:r>
              <a:rPr lang="zh-TW" altLang="en-US" sz="2000" dirty="0" smtClean="0">
                <a:solidFill>
                  <a:srgbClr val="0000FF"/>
                </a:solidFill>
                <a:latin typeface="+mn-ea"/>
              </a:rPr>
              <a:t>讓我們協助您</a:t>
            </a:r>
            <a:r>
              <a:rPr lang="zh-TW" altLang="en-US" sz="2000" dirty="0" smtClean="0">
                <a:latin typeface="+mn-ea"/>
              </a:rPr>
              <a:t>。</a:t>
            </a:r>
            <a:endParaRPr lang="en-US" altLang="zh-TW" sz="2000" dirty="0" smtClean="0">
              <a:latin typeface="+mn-ea"/>
            </a:endParaRPr>
          </a:p>
          <a:p>
            <a:pPr marL="342900" indent="-342900">
              <a:buFont typeface="+mj-lt"/>
              <a:buAutoNum type="arabicPeriod"/>
            </a:pPr>
            <a:r>
              <a:rPr lang="zh-TW" altLang="en-US" sz="2000" dirty="0">
                <a:effectLst>
                  <a:glow rad="127000">
                    <a:srgbClr val="FFFF00"/>
                  </a:glow>
                </a:effectLst>
                <a:latin typeface="+mn-ea"/>
              </a:rPr>
              <a:t>進階</a:t>
            </a:r>
            <a:r>
              <a:rPr lang="zh-TW" altLang="en-US" sz="2000" dirty="0" smtClean="0">
                <a:effectLst>
                  <a:glow rad="127000">
                    <a:srgbClr val="FFFF00"/>
                  </a:glow>
                </a:effectLst>
                <a:latin typeface="+mn-ea"/>
              </a:rPr>
              <a:t>設定</a:t>
            </a:r>
            <a:r>
              <a:rPr lang="zh-TW" altLang="en-US" sz="2000" dirty="0" smtClean="0">
                <a:latin typeface="+mn-ea"/>
              </a:rPr>
              <a:t>工作頁：</a:t>
            </a:r>
            <a:endParaRPr lang="en-US" altLang="zh-TW" sz="2000" dirty="0" smtClean="0">
              <a:latin typeface="+mn-ea"/>
            </a:endParaRPr>
          </a:p>
          <a:p>
            <a:pPr marL="800100" lvl="1" indent="-342900">
              <a:buFont typeface="+mj-lt"/>
              <a:buAutoNum type="arabicParenR"/>
            </a:pPr>
            <a:r>
              <a:rPr lang="zh-TW" altLang="en-US" dirty="0" smtClean="0">
                <a:latin typeface="+mn-ea"/>
              </a:rPr>
              <a:t>保留輸入資料。</a:t>
            </a:r>
            <a:endParaRPr lang="en-US" altLang="zh-TW" dirty="0" smtClean="0">
              <a:latin typeface="+mn-ea"/>
            </a:endParaRPr>
          </a:p>
          <a:p>
            <a:pPr marL="800100" lvl="1" indent="-342900">
              <a:buFont typeface="+mj-lt"/>
              <a:buAutoNum type="arabicParenR"/>
            </a:pPr>
            <a:r>
              <a:rPr lang="zh-TW" altLang="en-US" dirty="0" smtClean="0">
                <a:latin typeface="+mn-ea"/>
              </a:rPr>
              <a:t>列印紀錄、輸入範本。</a:t>
            </a:r>
            <a:endParaRPr lang="en-US" altLang="zh-TW" dirty="0">
              <a:latin typeface="+mn-ea"/>
            </a:endParaRPr>
          </a:p>
          <a:p>
            <a:pPr marL="342900" indent="-342900">
              <a:buFont typeface="+mj-lt"/>
              <a:buAutoNum type="arabicPeriod"/>
            </a:pPr>
            <a:endParaRPr lang="en-US" altLang="zh-TW" dirty="0" smtClean="0"/>
          </a:p>
          <a:p>
            <a:pPr marL="342900" indent="-342900">
              <a:buFont typeface="+mj-lt"/>
              <a:buAutoNum type="arabicPeriod"/>
            </a:pP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89684942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466787"/>
            <a:ext cx="5595851" cy="5254688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Autofit/>
          </a:bodyPr>
          <a:lstStyle/>
          <a:p>
            <a:pPr marL="514350" lvl="0" indent="-51435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TW" altLang="en-US" sz="2000" dirty="0">
                <a:latin typeface="+mn-ea"/>
              </a:rPr>
              <a:t>調整印表機設定：</a:t>
            </a:r>
            <a:endParaRPr lang="en-US" altLang="zh-TW" sz="2000" dirty="0">
              <a:latin typeface="+mn-ea"/>
            </a:endParaRPr>
          </a:p>
          <a:p>
            <a:pPr marL="914400" lvl="1" indent="-457200">
              <a:lnSpc>
                <a:spcPct val="110000"/>
              </a:lnSpc>
              <a:spcBef>
                <a:spcPts val="0"/>
              </a:spcBef>
              <a:buFont typeface="+mj-lt"/>
              <a:buAutoNum type="arabicParenR"/>
            </a:pPr>
            <a:r>
              <a:rPr lang="zh-TW" altLang="en-US" sz="1600" dirty="0">
                <a:latin typeface="+mn-ea"/>
              </a:rPr>
              <a:t>解決方法一：至「常用 </a:t>
            </a:r>
            <a:r>
              <a:rPr lang="en-US" altLang="zh-TW" sz="1600" dirty="0">
                <a:latin typeface="+mn-ea"/>
              </a:rPr>
              <a:t>&gt; </a:t>
            </a:r>
            <a:r>
              <a:rPr lang="zh-TW" altLang="en-US" sz="1600" dirty="0">
                <a:latin typeface="+mn-ea"/>
              </a:rPr>
              <a:t>印表機」將列印大小改為「</a:t>
            </a:r>
            <a:r>
              <a:rPr lang="en-US" altLang="zh-TW" sz="1600" dirty="0">
                <a:latin typeface="+mn-ea"/>
              </a:rPr>
              <a:t> </a:t>
            </a:r>
            <a:r>
              <a:rPr lang="zh-TW" altLang="en-US" sz="1600" dirty="0">
                <a:latin typeface="+mn-ea"/>
              </a:rPr>
              <a:t>自訂」</a:t>
            </a:r>
            <a:r>
              <a:rPr lang="zh-TW" altLang="zh-TW" sz="1600" dirty="0">
                <a:latin typeface="+mn-ea"/>
              </a:rPr>
              <a:t>。</a:t>
            </a:r>
            <a:r>
              <a:rPr lang="en-US" altLang="zh-TW" sz="1600" dirty="0">
                <a:latin typeface="+mn-ea"/>
              </a:rPr>
              <a:t>(</a:t>
            </a:r>
            <a:r>
              <a:rPr lang="zh-TW" altLang="en-US" sz="1600" dirty="0">
                <a:latin typeface="+mn-ea"/>
              </a:rPr>
              <a:t>有時需要關掉套印軟體再重開</a:t>
            </a:r>
            <a:r>
              <a:rPr lang="en-US" altLang="zh-TW" sz="1600" dirty="0">
                <a:latin typeface="+mn-ea"/>
              </a:rPr>
              <a:t>)</a:t>
            </a:r>
          </a:p>
          <a:p>
            <a:pPr marL="914400" lvl="1" indent="-457200">
              <a:lnSpc>
                <a:spcPct val="110000"/>
              </a:lnSpc>
              <a:spcBef>
                <a:spcPts val="0"/>
              </a:spcBef>
              <a:buFont typeface="+mj-lt"/>
              <a:buAutoNum type="arabicParenR"/>
            </a:pPr>
            <a:r>
              <a:rPr lang="zh-TW" altLang="en-US" sz="1600" dirty="0">
                <a:latin typeface="+mn-ea"/>
              </a:rPr>
              <a:t>解決方法二：增加您的電腦上面的印表機自訂紙張。用</a:t>
            </a:r>
            <a:r>
              <a:rPr lang="en-US" altLang="zh-TW" sz="1600" dirty="0">
                <a:latin typeface="+mn-ea"/>
              </a:rPr>
              <a:t>Google </a:t>
            </a:r>
            <a:r>
              <a:rPr lang="zh-TW" altLang="en-US" sz="1600" dirty="0">
                <a:latin typeface="+mn-ea"/>
              </a:rPr>
              <a:t>搜尋「紙張大小 不符」會有許多的參考資料。</a:t>
            </a:r>
            <a:endParaRPr lang="en-US" altLang="zh-TW" sz="1600" dirty="0">
              <a:latin typeface="+mn-ea"/>
            </a:endParaRPr>
          </a:p>
          <a:p>
            <a:pPr marL="514350" indent="-514350">
              <a:lnSpc>
                <a:spcPct val="110000"/>
              </a:lnSpc>
              <a:spcBef>
                <a:spcPts val="0"/>
              </a:spcBef>
              <a:buFont typeface="+mj-lt"/>
              <a:buAutoNum type="arabicPeriod"/>
            </a:pPr>
            <a:r>
              <a:rPr lang="zh-TW" altLang="en-US" sz="2000" dirty="0">
                <a:latin typeface="+mn-ea"/>
              </a:rPr>
              <a:t>注意事項：</a:t>
            </a:r>
            <a:endParaRPr lang="en-US" altLang="zh-TW" sz="2000" dirty="0">
              <a:latin typeface="+mn-ea"/>
            </a:endParaRPr>
          </a:p>
          <a:p>
            <a:pPr marL="914400" lvl="1" indent="-457200">
              <a:lnSpc>
                <a:spcPct val="110000"/>
              </a:lnSpc>
              <a:spcBef>
                <a:spcPts val="0"/>
              </a:spcBef>
              <a:buFont typeface="+mj-lt"/>
              <a:buAutoNum type="arabicParenR"/>
            </a:pPr>
            <a:r>
              <a:rPr lang="zh-TW" altLang="en-US" sz="1600" dirty="0">
                <a:latin typeface="+mn-ea"/>
              </a:rPr>
              <a:t>有些印表機的自訂紙張不能太小，此時您只能設定大於或等於該印表機的最小紙張限制，再由套印軟體的邊界去調整，整體套印位置即可。</a:t>
            </a:r>
            <a:endParaRPr lang="en-US" altLang="zh-TW" sz="1600" dirty="0">
              <a:latin typeface="+mn-ea"/>
            </a:endParaRPr>
          </a:p>
          <a:p>
            <a:pPr marL="914400" lvl="1" indent="-457200">
              <a:lnSpc>
                <a:spcPct val="110000"/>
              </a:lnSpc>
              <a:spcBef>
                <a:spcPts val="0"/>
              </a:spcBef>
              <a:buFont typeface="+mj-lt"/>
              <a:buAutoNum type="arabicParenR"/>
            </a:pPr>
            <a:r>
              <a:rPr lang="zh-TW" altLang="en-US" sz="1600" dirty="0">
                <a:latin typeface="+mn-ea"/>
              </a:rPr>
              <a:t>同</a:t>
            </a:r>
            <a:r>
              <a:rPr lang="en-US" altLang="zh-TW" sz="1600" dirty="0">
                <a:latin typeface="+mn-ea"/>
              </a:rPr>
              <a:t>1</a:t>
            </a:r>
            <a:r>
              <a:rPr lang="zh-TW" altLang="en-US" sz="1600" dirty="0">
                <a:latin typeface="+mn-ea"/>
              </a:rPr>
              <a:t>台印表機硬體，可以裝許多次印表機的軟體，自訂紙張時，最好增加印表機軟體，讓該軟體預設自訂紙張，專供某種套印使用。</a:t>
            </a:r>
            <a:endParaRPr lang="en-US" altLang="zh-TW" sz="1600" dirty="0">
              <a:latin typeface="+mn-ea"/>
            </a:endParaRPr>
          </a:p>
          <a:p>
            <a:pPr marL="914400" lvl="1" indent="-457200">
              <a:lnSpc>
                <a:spcPct val="110000"/>
              </a:lnSpc>
              <a:spcBef>
                <a:spcPts val="0"/>
              </a:spcBef>
              <a:buFont typeface="+mj-lt"/>
              <a:buAutoNum type="arabicParenR"/>
            </a:pPr>
            <a:r>
              <a:rPr lang="zh-TW" altLang="en-US" sz="1600" dirty="0">
                <a:latin typeface="+mn-ea"/>
              </a:rPr>
              <a:t>有些事務機有</a:t>
            </a:r>
            <a:r>
              <a:rPr lang="en-US" altLang="zh-TW" sz="1600" dirty="0">
                <a:latin typeface="+mn-ea"/>
              </a:rPr>
              <a:t>4</a:t>
            </a:r>
            <a:r>
              <a:rPr lang="zh-TW" altLang="en-US" sz="1600" dirty="0">
                <a:latin typeface="+mn-ea"/>
              </a:rPr>
              <a:t>個紙匣，可同時置入不同的色紙或信封，如果安裝</a:t>
            </a:r>
            <a:r>
              <a:rPr lang="en-US" altLang="zh-TW" sz="1600" dirty="0">
                <a:latin typeface="+mn-ea"/>
              </a:rPr>
              <a:t>4</a:t>
            </a:r>
            <a:r>
              <a:rPr lang="zh-TW" altLang="en-US" sz="1600" dirty="0">
                <a:latin typeface="+mn-ea"/>
              </a:rPr>
              <a:t>次印表機軟體，那就不用時抽換紙張、信封，只要由套印軟體指定該印表機軟體即可順利套印。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838200" y="365125"/>
            <a:ext cx="10515600" cy="8444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sz="3600" dirty="0"/>
              <a:t>套印</a:t>
            </a:r>
            <a:r>
              <a:rPr lang="zh-TW" altLang="en-US" sz="3600" dirty="0" smtClean="0"/>
              <a:t>測試</a:t>
            </a:r>
            <a:r>
              <a:rPr lang="en-US" altLang="zh-TW" sz="3600" dirty="0" smtClean="0"/>
              <a:t>-</a:t>
            </a:r>
            <a:r>
              <a:rPr lang="zh-TW" altLang="en-US" sz="3600" dirty="0" smtClean="0"/>
              <a:t>紙張大小不符</a:t>
            </a:r>
            <a:endParaRPr lang="zh-TW" altLang="en-US" sz="24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EF07-459A-4CB9-B1F3-0734876A23B5}" type="slidenum">
              <a:rPr lang="zh-TW" altLang="en-US" smtClean="0"/>
              <a:t>9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087206" y="1466787"/>
            <a:ext cx="3952875" cy="45910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011153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495426"/>
            <a:ext cx="10515600" cy="1736191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zh-TW" altLang="zh-TW" dirty="0">
                <a:latin typeface="+mn-ea"/>
              </a:rPr>
              <a:t>檢視套印結果：再決定下一步，</a:t>
            </a:r>
            <a:r>
              <a:rPr lang="zh-TW" altLang="zh-TW" dirty="0" smtClean="0">
                <a:latin typeface="+mn-ea"/>
              </a:rPr>
              <a:t>依</a:t>
            </a:r>
            <a:r>
              <a:rPr lang="zh-TW" altLang="en-US" dirty="0" smtClean="0">
                <a:latin typeface="+mn-ea"/>
              </a:rPr>
              <a:t>下列</a:t>
            </a:r>
            <a:r>
              <a:rPr lang="zh-TW" altLang="zh-TW" dirty="0" smtClean="0">
                <a:latin typeface="+mn-ea"/>
              </a:rPr>
              <a:t>說明</a:t>
            </a:r>
            <a:r>
              <a:rPr lang="zh-TW" altLang="zh-TW" dirty="0">
                <a:latin typeface="+mn-ea"/>
              </a:rPr>
              <a:t>完成後 請再印</a:t>
            </a:r>
            <a:r>
              <a:rPr lang="en-US" altLang="zh-TW" dirty="0">
                <a:latin typeface="+mn-ea"/>
              </a:rPr>
              <a:t>1</a:t>
            </a:r>
            <a:r>
              <a:rPr lang="zh-TW" altLang="zh-TW" dirty="0">
                <a:latin typeface="+mn-ea"/>
              </a:rPr>
              <a:t>次。</a:t>
            </a:r>
            <a:endParaRPr lang="zh-TW" altLang="zh-TW" sz="2400" dirty="0">
              <a:latin typeface="+mn-ea"/>
            </a:endParaRPr>
          </a:p>
          <a:p>
            <a:pPr marL="914400" lvl="1" indent="-457200">
              <a:buFont typeface="+mj-lt"/>
              <a:buAutoNum type="arabicParenR"/>
            </a:pPr>
            <a:r>
              <a:rPr lang="zh-TW" altLang="zh-TW" b="1" dirty="0">
                <a:latin typeface="+mn-ea"/>
              </a:rPr>
              <a:t>印在背面</a:t>
            </a:r>
            <a:r>
              <a:rPr lang="zh-TW" altLang="zh-TW" dirty="0">
                <a:latin typeface="+mn-ea"/>
              </a:rPr>
              <a:t>：將表格翻面後送入印表機，再印</a:t>
            </a:r>
            <a:r>
              <a:rPr lang="en-US" altLang="zh-TW" dirty="0">
                <a:latin typeface="+mn-ea"/>
              </a:rPr>
              <a:t>1</a:t>
            </a:r>
            <a:r>
              <a:rPr lang="zh-TW" altLang="zh-TW" dirty="0">
                <a:latin typeface="+mn-ea"/>
              </a:rPr>
              <a:t>次。</a:t>
            </a:r>
            <a:endParaRPr lang="zh-TW" altLang="zh-TW" sz="2000" dirty="0">
              <a:latin typeface="+mn-ea"/>
            </a:endParaRPr>
          </a:p>
          <a:p>
            <a:pPr marL="914400" lvl="1" indent="-457200">
              <a:buFont typeface="+mj-lt"/>
              <a:buAutoNum type="arabicParenR"/>
            </a:pPr>
            <a:r>
              <a:rPr lang="zh-TW" altLang="zh-TW" b="1" dirty="0">
                <a:latin typeface="+mn-ea"/>
              </a:rPr>
              <a:t>完全空白</a:t>
            </a:r>
            <a:r>
              <a:rPr lang="zh-TW" altLang="zh-TW" dirty="0">
                <a:latin typeface="+mn-ea"/>
              </a:rPr>
              <a:t>：常用</a:t>
            </a:r>
            <a:r>
              <a:rPr lang="en-US" altLang="zh-TW" dirty="0">
                <a:latin typeface="+mn-ea"/>
              </a:rPr>
              <a:t> &gt;</a:t>
            </a:r>
            <a:r>
              <a:rPr lang="zh-TW" altLang="zh-TW" dirty="0">
                <a:latin typeface="+mn-ea"/>
              </a:rPr>
              <a:t>　印表機，調整邊界「上」、「左」，將現有值各加</a:t>
            </a:r>
            <a:r>
              <a:rPr lang="en-US" altLang="zh-TW" dirty="0">
                <a:latin typeface="+mn-ea"/>
              </a:rPr>
              <a:t>60</a:t>
            </a:r>
            <a:r>
              <a:rPr lang="zh-TW" altLang="zh-TW" dirty="0">
                <a:latin typeface="+mn-ea"/>
              </a:rPr>
              <a:t>，存檔後，再印</a:t>
            </a:r>
            <a:r>
              <a:rPr lang="en-US" altLang="zh-TW" dirty="0">
                <a:latin typeface="+mn-ea"/>
              </a:rPr>
              <a:t>1</a:t>
            </a:r>
            <a:r>
              <a:rPr lang="zh-TW" altLang="zh-TW" dirty="0">
                <a:latin typeface="+mn-ea"/>
              </a:rPr>
              <a:t>次</a:t>
            </a:r>
            <a:r>
              <a:rPr lang="zh-TW" altLang="zh-TW" dirty="0" smtClean="0">
                <a:latin typeface="+mn-ea"/>
              </a:rPr>
              <a:t>。</a:t>
            </a:r>
            <a:endParaRPr lang="zh-TW" altLang="zh-TW" sz="2000" dirty="0">
              <a:latin typeface="+mn-ea"/>
            </a:endParaRP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838200" y="365125"/>
            <a:ext cx="10515600" cy="8444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sz="3600" dirty="0"/>
              <a:t>套印</a:t>
            </a:r>
            <a:r>
              <a:rPr lang="zh-TW" altLang="en-US" sz="3600" dirty="0" smtClean="0"/>
              <a:t>測試</a:t>
            </a:r>
            <a:r>
              <a:rPr lang="en-US" altLang="zh-TW" sz="3600" dirty="0" smtClean="0"/>
              <a:t>-</a:t>
            </a:r>
            <a:r>
              <a:rPr lang="zh-TW" altLang="en-US" sz="3600" dirty="0" smtClean="0"/>
              <a:t>依套結果調整</a:t>
            </a:r>
            <a:r>
              <a:rPr lang="en-US" altLang="zh-TW" sz="2400" dirty="0" smtClean="0"/>
              <a:t>(1/4)</a:t>
            </a:r>
            <a:endParaRPr lang="zh-TW" altLang="en-US" sz="24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EF07-459A-4CB9-B1F3-0734876A23B5}" type="slidenum">
              <a:rPr lang="zh-TW" altLang="en-US" smtClean="0"/>
              <a:t>10</a:t>
            </a:fld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86525" y="3917011"/>
            <a:ext cx="4769290" cy="21647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6" name="文字方塊 15"/>
          <p:cNvSpPr txBox="1"/>
          <p:nvPr/>
        </p:nvSpPr>
        <p:spPr>
          <a:xfrm>
            <a:off x="2800350" y="621860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zh-TW" b="1" dirty="0"/>
              <a:t>印在背面</a:t>
            </a:r>
            <a:endParaRPr lang="zh-TW" altLang="en-US" dirty="0">
              <a:solidFill>
                <a:srgbClr val="0000FF"/>
              </a:solidFill>
            </a:endParaRPr>
          </a:p>
        </p:txBody>
      </p:sp>
      <p:sp>
        <p:nvSpPr>
          <p:cNvPr id="17" name="文字方塊 16"/>
          <p:cNvSpPr txBox="1"/>
          <p:nvPr/>
        </p:nvSpPr>
        <p:spPr>
          <a:xfrm>
            <a:off x="8317172" y="621860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zh-TW" b="1" dirty="0"/>
              <a:t>完全空白</a:t>
            </a:r>
            <a:endParaRPr lang="zh-TW" altLang="en-US" dirty="0">
              <a:solidFill>
                <a:srgbClr val="0000FF"/>
              </a:solidFill>
            </a:endParaRPr>
          </a:p>
        </p:txBody>
      </p:sp>
      <p:pic>
        <p:nvPicPr>
          <p:cNvPr id="18" name="圖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28724" y="3820201"/>
            <a:ext cx="4867276" cy="2271036"/>
          </a:xfrm>
          <a:prstGeom prst="rect">
            <a:avLst/>
          </a:prstGeom>
        </p:spPr>
      </p:pic>
      <p:sp>
        <p:nvSpPr>
          <p:cNvPr id="19" name="文字方塊 18"/>
          <p:cNvSpPr txBox="1"/>
          <p:nvPr/>
        </p:nvSpPr>
        <p:spPr>
          <a:xfrm>
            <a:off x="1676399" y="4024481"/>
            <a:ext cx="1343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  </a:t>
            </a:r>
            <a:r>
              <a:rPr lang="en-US" altLang="zh-TW" sz="1200" dirty="0" smtClean="0"/>
              <a:t>109       6        8</a:t>
            </a:r>
            <a:endParaRPr lang="zh-TW" altLang="en-US" dirty="0"/>
          </a:p>
        </p:txBody>
      </p:sp>
      <p:sp>
        <p:nvSpPr>
          <p:cNvPr id="20" name="文字方塊 19"/>
          <p:cNvSpPr txBox="1"/>
          <p:nvPr/>
        </p:nvSpPr>
        <p:spPr>
          <a:xfrm>
            <a:off x="2190750" y="4577575"/>
            <a:ext cx="1276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1200" kern="0" spc="10" dirty="0" smtClean="0"/>
              <a:t>$ 6  5  0 0  0  -   - </a:t>
            </a:r>
            <a:endParaRPr lang="zh-TW" altLang="en-US" sz="1200" kern="0" spc="10" dirty="0"/>
          </a:p>
        </p:txBody>
      </p:sp>
      <p:sp>
        <p:nvSpPr>
          <p:cNvPr id="21" name="文字方塊 20"/>
          <p:cNvSpPr txBox="1"/>
          <p:nvPr/>
        </p:nvSpPr>
        <p:spPr>
          <a:xfrm>
            <a:off x="1743075" y="4797760"/>
            <a:ext cx="1276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1200" kern="0" spc="10" dirty="0" smtClean="0"/>
              <a:t>$65,000-</a:t>
            </a:r>
          </a:p>
          <a:p>
            <a:pPr algn="just"/>
            <a:r>
              <a:rPr lang="en-US" altLang="zh-TW" sz="1200" kern="0" spc="10" dirty="0" smtClean="0"/>
              <a:t> </a:t>
            </a:r>
            <a:endParaRPr lang="zh-TW" altLang="en-US" sz="1200" kern="0" spc="10" dirty="0"/>
          </a:p>
        </p:txBody>
      </p:sp>
      <p:sp>
        <p:nvSpPr>
          <p:cNvPr id="22" name="文字方塊 21"/>
          <p:cNvSpPr txBox="1"/>
          <p:nvPr/>
        </p:nvSpPr>
        <p:spPr>
          <a:xfrm>
            <a:off x="1495424" y="5119320"/>
            <a:ext cx="23622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1200" kern="0" spc="590" dirty="0" smtClean="0"/>
              <a:t>1234567890123</a:t>
            </a:r>
            <a:endParaRPr lang="zh-TW" altLang="en-US" sz="1200" kern="0" spc="10" dirty="0"/>
          </a:p>
        </p:txBody>
      </p:sp>
    </p:spTree>
    <p:extLst>
      <p:ext uri="{BB962C8B-B14F-4D97-AF65-F5344CB8AC3E}">
        <p14:creationId xmlns:p14="http://schemas.microsoft.com/office/powerpoint/2010/main" val="8974141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495426"/>
            <a:ext cx="6638924" cy="2345294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zh-TW" altLang="zh-TW" dirty="0">
                <a:latin typeface="+mn-ea"/>
              </a:rPr>
              <a:t>檢視套印結果：再決定下一步，</a:t>
            </a:r>
            <a:r>
              <a:rPr lang="zh-TW" altLang="zh-TW" dirty="0" smtClean="0">
                <a:latin typeface="+mn-ea"/>
              </a:rPr>
              <a:t>依</a:t>
            </a:r>
            <a:r>
              <a:rPr lang="zh-TW" altLang="en-US" dirty="0" smtClean="0">
                <a:latin typeface="+mn-ea"/>
              </a:rPr>
              <a:t>下列</a:t>
            </a:r>
            <a:r>
              <a:rPr lang="zh-TW" altLang="zh-TW" dirty="0" smtClean="0">
                <a:latin typeface="+mn-ea"/>
              </a:rPr>
              <a:t>說明</a:t>
            </a:r>
            <a:r>
              <a:rPr lang="zh-TW" altLang="zh-TW" dirty="0">
                <a:latin typeface="+mn-ea"/>
              </a:rPr>
              <a:t>完成後 請再印</a:t>
            </a:r>
            <a:r>
              <a:rPr lang="en-US" altLang="zh-TW" dirty="0">
                <a:latin typeface="+mn-ea"/>
              </a:rPr>
              <a:t>1</a:t>
            </a:r>
            <a:r>
              <a:rPr lang="zh-TW" altLang="zh-TW" dirty="0">
                <a:latin typeface="+mn-ea"/>
              </a:rPr>
              <a:t>次。</a:t>
            </a:r>
            <a:endParaRPr lang="zh-TW" altLang="zh-TW" sz="2400" dirty="0">
              <a:latin typeface="+mn-ea"/>
            </a:endParaRPr>
          </a:p>
          <a:p>
            <a:pPr marL="914400" lvl="1" indent="-457200">
              <a:buFont typeface="+mj-lt"/>
              <a:buAutoNum type="arabicParenR"/>
            </a:pPr>
            <a:r>
              <a:rPr lang="zh-TW" altLang="zh-TW" b="1" dirty="0" smtClean="0">
                <a:latin typeface="+mn-ea"/>
              </a:rPr>
              <a:t>上下顛倒</a:t>
            </a:r>
            <a:r>
              <a:rPr lang="zh-TW" altLang="zh-TW" dirty="0">
                <a:latin typeface="+mn-ea"/>
              </a:rPr>
              <a:t>：表格旋轉</a:t>
            </a:r>
            <a:r>
              <a:rPr lang="en-US" altLang="zh-TW" dirty="0">
                <a:latin typeface="+mn-ea"/>
              </a:rPr>
              <a:t>180</a:t>
            </a:r>
            <a:r>
              <a:rPr lang="zh-TW" altLang="zh-TW" dirty="0" smtClean="0">
                <a:latin typeface="+mn-ea"/>
              </a:rPr>
              <a:t>度</a:t>
            </a:r>
            <a:r>
              <a:rPr lang="zh-TW" altLang="en-US" dirty="0" smtClean="0">
                <a:latin typeface="+mn-ea"/>
              </a:rPr>
              <a:t>後</a:t>
            </a:r>
            <a:r>
              <a:rPr lang="zh-TW" altLang="zh-TW" dirty="0" smtClean="0">
                <a:latin typeface="+mn-ea"/>
              </a:rPr>
              <a:t>，</a:t>
            </a:r>
            <a:r>
              <a:rPr lang="zh-TW" altLang="zh-TW" dirty="0">
                <a:latin typeface="+mn-ea"/>
              </a:rPr>
              <a:t>再印</a:t>
            </a:r>
            <a:r>
              <a:rPr lang="en-US" altLang="zh-TW" dirty="0">
                <a:latin typeface="+mn-ea"/>
              </a:rPr>
              <a:t>1</a:t>
            </a:r>
            <a:r>
              <a:rPr lang="zh-TW" altLang="zh-TW" dirty="0">
                <a:latin typeface="+mn-ea"/>
              </a:rPr>
              <a:t>次。</a:t>
            </a:r>
            <a:endParaRPr lang="zh-TW" altLang="zh-TW" sz="2000" dirty="0">
              <a:latin typeface="+mn-ea"/>
            </a:endParaRPr>
          </a:p>
          <a:p>
            <a:pPr marL="914400" lvl="1" indent="-457200">
              <a:buFont typeface="+mj-lt"/>
              <a:buAutoNum type="arabicParenR"/>
            </a:pPr>
            <a:r>
              <a:rPr lang="zh-TW" altLang="zh-TW" b="1" dirty="0">
                <a:latin typeface="+mn-ea"/>
              </a:rPr>
              <a:t>整體偏移</a:t>
            </a:r>
            <a:r>
              <a:rPr lang="en-US" altLang="zh-TW" dirty="0" smtClean="0">
                <a:latin typeface="+mn-ea"/>
              </a:rPr>
              <a:t>(</a:t>
            </a:r>
            <a:r>
              <a:rPr lang="zh-TW" altLang="en-US" dirty="0" smtClean="0">
                <a:latin typeface="+mn-ea"/>
              </a:rPr>
              <a:t>或</a:t>
            </a:r>
            <a:r>
              <a:rPr lang="zh-TW" altLang="zh-TW" dirty="0" smtClean="0">
                <a:latin typeface="+mn-ea"/>
              </a:rPr>
              <a:t>列印</a:t>
            </a:r>
            <a:r>
              <a:rPr lang="zh-TW" altLang="zh-TW" dirty="0">
                <a:latin typeface="+mn-ea"/>
              </a:rPr>
              <a:t>部份資料</a:t>
            </a:r>
            <a:r>
              <a:rPr lang="en-US" altLang="zh-TW" dirty="0">
                <a:latin typeface="+mn-ea"/>
              </a:rPr>
              <a:t>)</a:t>
            </a:r>
            <a:r>
              <a:rPr lang="zh-TW" altLang="zh-TW" dirty="0">
                <a:latin typeface="+mn-ea"/>
              </a:rPr>
              <a:t>：先用尺量偏移值，找有限制位置或空格最好的資料最好，然後執行</a:t>
            </a:r>
            <a:r>
              <a:rPr lang="zh-TW" altLang="zh-TW" dirty="0">
                <a:solidFill>
                  <a:srgbClr val="0000FF"/>
                </a:solidFill>
                <a:latin typeface="+mn-ea"/>
              </a:rPr>
              <a:t>常用 </a:t>
            </a:r>
            <a:r>
              <a:rPr lang="en-US" altLang="zh-TW" dirty="0">
                <a:latin typeface="+mn-ea"/>
              </a:rPr>
              <a:t>&gt; </a:t>
            </a:r>
            <a:r>
              <a:rPr lang="zh-TW" altLang="zh-TW" dirty="0">
                <a:solidFill>
                  <a:srgbClr val="0000FF"/>
                </a:solidFill>
                <a:latin typeface="+mn-ea"/>
              </a:rPr>
              <a:t>印表機</a:t>
            </a:r>
            <a:r>
              <a:rPr lang="zh-TW" altLang="zh-TW" dirty="0">
                <a:solidFill>
                  <a:srgbClr val="FF0000"/>
                </a:solidFill>
                <a:latin typeface="+mn-ea"/>
              </a:rPr>
              <a:t>設定邊界值</a:t>
            </a:r>
            <a:r>
              <a:rPr lang="zh-TW" altLang="zh-TW" dirty="0" smtClean="0">
                <a:latin typeface="+mn-ea"/>
              </a:rPr>
              <a:t>。</a:t>
            </a:r>
            <a:endParaRPr lang="zh-TW" altLang="en-US" dirty="0">
              <a:latin typeface="+mn-ea"/>
            </a:endParaRP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838200" y="365125"/>
            <a:ext cx="10515600" cy="8444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sz="3600" dirty="0"/>
              <a:t>套印</a:t>
            </a:r>
            <a:r>
              <a:rPr lang="zh-TW" altLang="en-US" sz="3600" dirty="0" smtClean="0"/>
              <a:t>測試</a:t>
            </a:r>
            <a:r>
              <a:rPr lang="en-US" altLang="zh-TW" sz="3600" dirty="0" smtClean="0"/>
              <a:t>-</a:t>
            </a:r>
            <a:r>
              <a:rPr lang="zh-TW" altLang="en-US" sz="3600" dirty="0" smtClean="0"/>
              <a:t>依套結果調整</a:t>
            </a:r>
            <a:r>
              <a:rPr lang="en-US" altLang="zh-TW" sz="2400" dirty="0" smtClean="0"/>
              <a:t>(2/4)</a:t>
            </a:r>
            <a:endParaRPr lang="zh-TW" altLang="en-US" sz="24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EF07-459A-4CB9-B1F3-0734876A23B5}" type="slidenum">
              <a:rPr lang="zh-TW" altLang="en-US" smtClean="0"/>
              <a:t>11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10800000">
            <a:off x="1228725" y="3917011"/>
            <a:ext cx="4769290" cy="21647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62725" y="3917011"/>
            <a:ext cx="4769290" cy="21647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文字方塊 6"/>
          <p:cNvSpPr txBox="1"/>
          <p:nvPr/>
        </p:nvSpPr>
        <p:spPr>
          <a:xfrm>
            <a:off x="1676399" y="4024481"/>
            <a:ext cx="1343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  </a:t>
            </a:r>
            <a:r>
              <a:rPr lang="en-US" altLang="zh-TW" sz="1200" dirty="0" smtClean="0"/>
              <a:t>109       6        8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>
            <a:off x="2190750" y="4577575"/>
            <a:ext cx="1276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1200" kern="0" spc="10" dirty="0" smtClean="0"/>
              <a:t>$ 6  5  0 0  0  -   - </a:t>
            </a:r>
            <a:endParaRPr lang="zh-TW" altLang="en-US" sz="1200" kern="0" spc="10" dirty="0"/>
          </a:p>
        </p:txBody>
      </p:sp>
      <p:sp>
        <p:nvSpPr>
          <p:cNvPr id="9" name="文字方塊 8"/>
          <p:cNvSpPr txBox="1"/>
          <p:nvPr/>
        </p:nvSpPr>
        <p:spPr>
          <a:xfrm>
            <a:off x="1743075" y="4797760"/>
            <a:ext cx="1276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1200" kern="0" spc="10" dirty="0" smtClean="0"/>
              <a:t>$65,000-</a:t>
            </a:r>
          </a:p>
          <a:p>
            <a:pPr algn="just"/>
            <a:r>
              <a:rPr lang="en-US" altLang="zh-TW" sz="1200" kern="0" spc="10" dirty="0" smtClean="0"/>
              <a:t> </a:t>
            </a:r>
            <a:endParaRPr lang="zh-TW" altLang="en-US" sz="1200" kern="0" spc="10" dirty="0"/>
          </a:p>
        </p:txBody>
      </p:sp>
      <p:sp>
        <p:nvSpPr>
          <p:cNvPr id="10" name="文字方塊 9"/>
          <p:cNvSpPr txBox="1"/>
          <p:nvPr/>
        </p:nvSpPr>
        <p:spPr>
          <a:xfrm>
            <a:off x="1495424" y="5119320"/>
            <a:ext cx="23622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1200" kern="0" spc="590" dirty="0" smtClean="0"/>
              <a:t>1234567890123</a:t>
            </a:r>
            <a:endParaRPr lang="zh-TW" altLang="en-US" sz="1200" kern="0" spc="1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7477124" y="4227950"/>
            <a:ext cx="1343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  </a:t>
            </a:r>
            <a:r>
              <a:rPr lang="en-US" altLang="zh-TW" sz="1200" dirty="0" smtClean="0"/>
              <a:t>109       6        8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7991475" y="4781044"/>
            <a:ext cx="1276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1200" kern="0" spc="10" dirty="0" smtClean="0"/>
              <a:t>$ 6  5  0 0  0  -   - </a:t>
            </a:r>
            <a:endParaRPr lang="zh-TW" altLang="en-US" sz="1200" kern="0" spc="1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7543800" y="5001229"/>
            <a:ext cx="1276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1200" kern="0" spc="10" dirty="0" smtClean="0"/>
              <a:t>$65,000-</a:t>
            </a:r>
          </a:p>
          <a:p>
            <a:pPr algn="just"/>
            <a:r>
              <a:rPr lang="en-US" altLang="zh-TW" sz="1200" kern="0" spc="10" dirty="0" smtClean="0"/>
              <a:t> </a:t>
            </a:r>
            <a:endParaRPr lang="zh-TW" altLang="en-US" sz="1200" kern="0" spc="1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7296149" y="5322789"/>
            <a:ext cx="23622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1200" kern="0" spc="590" dirty="0" smtClean="0"/>
              <a:t>1234567890123</a:t>
            </a:r>
            <a:endParaRPr lang="zh-TW" altLang="en-US" sz="1200" kern="0" spc="10" dirty="0"/>
          </a:p>
        </p:txBody>
      </p:sp>
      <p:sp>
        <p:nvSpPr>
          <p:cNvPr id="16" name="文字方塊 15"/>
          <p:cNvSpPr txBox="1"/>
          <p:nvPr/>
        </p:nvSpPr>
        <p:spPr>
          <a:xfrm>
            <a:off x="2800350" y="6218607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上下顛倒</a:t>
            </a:r>
            <a:endParaRPr lang="zh-TW" altLang="en-US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8448674" y="6259799"/>
            <a:ext cx="110799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整體偏移</a:t>
            </a:r>
            <a:endParaRPr lang="zh-TW" altLang="en-US" dirty="0"/>
          </a:p>
        </p:txBody>
      </p:sp>
      <p:pic>
        <p:nvPicPr>
          <p:cNvPr id="18" name="圖片 1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712743" y="1255614"/>
            <a:ext cx="3629025" cy="25946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38238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404410"/>
            <a:ext cx="5591175" cy="5226050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 lnSpcReduction="1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zh-TW" altLang="zh-TW" dirty="0">
                <a:latin typeface="+mn-ea"/>
              </a:rPr>
              <a:t>檢視套印結果：再決定下一步，</a:t>
            </a:r>
            <a:r>
              <a:rPr lang="zh-TW" altLang="zh-TW" dirty="0" smtClean="0">
                <a:latin typeface="+mn-ea"/>
              </a:rPr>
              <a:t>依</a:t>
            </a:r>
            <a:r>
              <a:rPr lang="zh-TW" altLang="en-US" dirty="0" smtClean="0">
                <a:latin typeface="+mn-ea"/>
              </a:rPr>
              <a:t>下列</a:t>
            </a:r>
            <a:r>
              <a:rPr lang="zh-TW" altLang="zh-TW" dirty="0" smtClean="0">
                <a:latin typeface="+mn-ea"/>
              </a:rPr>
              <a:t>說明</a:t>
            </a:r>
            <a:r>
              <a:rPr lang="zh-TW" altLang="zh-TW" dirty="0">
                <a:latin typeface="+mn-ea"/>
              </a:rPr>
              <a:t>完成後 請再印</a:t>
            </a:r>
            <a:r>
              <a:rPr lang="en-US" altLang="zh-TW" dirty="0">
                <a:latin typeface="+mn-ea"/>
              </a:rPr>
              <a:t>1</a:t>
            </a:r>
            <a:r>
              <a:rPr lang="zh-TW" altLang="zh-TW" dirty="0">
                <a:latin typeface="+mn-ea"/>
              </a:rPr>
              <a:t>次。</a:t>
            </a:r>
            <a:endParaRPr lang="zh-TW" altLang="zh-TW" sz="2400" dirty="0">
              <a:latin typeface="+mn-ea"/>
            </a:endParaRPr>
          </a:p>
          <a:p>
            <a:pPr marL="914400" lvl="1" indent="-457200">
              <a:buFont typeface="+mj-lt"/>
              <a:buAutoNum type="arabicParenR"/>
            </a:pPr>
            <a:r>
              <a:rPr lang="zh-TW" altLang="zh-TW" sz="2200" b="1" dirty="0">
                <a:latin typeface="+mn-ea"/>
              </a:rPr>
              <a:t>沒有規則的偏移</a:t>
            </a:r>
            <a:r>
              <a:rPr lang="zh-TW" altLang="zh-TW" sz="2200" dirty="0">
                <a:latin typeface="+mn-ea"/>
              </a:rPr>
              <a:t>：列印出來的資料呈現沒有規則的偏移</a:t>
            </a:r>
            <a:r>
              <a:rPr lang="zh-TW" altLang="zh-TW" sz="2200" dirty="0" smtClean="0">
                <a:latin typeface="+mn-ea"/>
              </a:rPr>
              <a:t>，</a:t>
            </a:r>
            <a:r>
              <a:rPr lang="zh-TW" altLang="en-US" sz="2200" dirty="0" smtClean="0">
                <a:latin typeface="+mn-ea"/>
              </a:rPr>
              <a:t>是因為</a:t>
            </a:r>
            <a:r>
              <a:rPr lang="zh-TW" altLang="en-US" sz="2200" dirty="0" smtClean="0">
                <a:solidFill>
                  <a:srgbClr val="FF0000"/>
                </a:solidFill>
                <a:latin typeface="+mn-ea"/>
              </a:rPr>
              <a:t>表格內容有改版</a:t>
            </a:r>
            <a:r>
              <a:rPr lang="zh-TW" altLang="en-US" sz="2200" dirty="0" smtClean="0">
                <a:latin typeface="+mn-ea"/>
              </a:rPr>
              <a:t>，</a:t>
            </a:r>
            <a:r>
              <a:rPr lang="zh-TW" altLang="zh-TW" sz="2200" dirty="0" smtClean="0">
                <a:latin typeface="+mn-ea"/>
              </a:rPr>
              <a:t>請</a:t>
            </a:r>
            <a:r>
              <a:rPr lang="zh-TW" altLang="zh-TW" sz="2200" dirty="0">
                <a:latin typeface="+mn-ea"/>
              </a:rPr>
              <a:t>依下列說明處理</a:t>
            </a:r>
            <a:r>
              <a:rPr lang="zh-TW" altLang="zh-TW" sz="2200" dirty="0" smtClean="0">
                <a:latin typeface="+mn-ea"/>
              </a:rPr>
              <a:t>：</a:t>
            </a:r>
            <a:endParaRPr lang="en-US" altLang="zh-TW" sz="2200" dirty="0" smtClean="0">
              <a:latin typeface="+mn-ea"/>
            </a:endParaRPr>
          </a:p>
          <a:p>
            <a:pPr marL="1371600" lvl="2" indent="-457200">
              <a:buFont typeface="Wingdings" panose="05000000000000000000" pitchFamily="2" charset="2"/>
              <a:buAutoNum type="circleNumWdWhitePlain"/>
            </a:pPr>
            <a:r>
              <a:rPr lang="zh-TW" altLang="zh-TW" sz="2200" dirty="0">
                <a:latin typeface="+mn-ea"/>
              </a:rPr>
              <a:t>將表格</a:t>
            </a:r>
            <a:r>
              <a:rPr lang="en-US" altLang="zh-TW" sz="2200" dirty="0">
                <a:latin typeface="+mn-ea"/>
              </a:rPr>
              <a:t>(</a:t>
            </a:r>
            <a:r>
              <a:rPr lang="zh-TW" altLang="zh-TW" sz="2200" dirty="0">
                <a:latin typeface="+mn-ea"/>
              </a:rPr>
              <a:t>如支票含存根</a:t>
            </a:r>
            <a:r>
              <a:rPr lang="en-US" altLang="zh-TW" sz="2200" dirty="0">
                <a:latin typeface="+mn-ea"/>
              </a:rPr>
              <a:t>)</a:t>
            </a:r>
            <a:r>
              <a:rPr lang="zh-TW" altLang="zh-TW" sz="2200" dirty="0">
                <a:latin typeface="+mn-ea"/>
              </a:rPr>
              <a:t>以最清楚的方式掃描成檔案</a:t>
            </a:r>
            <a:r>
              <a:rPr lang="en-US" altLang="zh-TW" sz="2200" dirty="0">
                <a:latin typeface="+mn-ea"/>
              </a:rPr>
              <a:t>(</a:t>
            </a:r>
            <a:r>
              <a:rPr lang="zh-TW" altLang="zh-TW" sz="2200" dirty="0">
                <a:latin typeface="+mn-ea"/>
              </a:rPr>
              <a:t>如</a:t>
            </a:r>
            <a:r>
              <a:rPr lang="en-US" altLang="zh-TW" sz="2200" dirty="0" err="1">
                <a:solidFill>
                  <a:srgbClr val="0000FF"/>
                </a:solidFill>
                <a:latin typeface="+mn-ea"/>
              </a:rPr>
              <a:t>png</a:t>
            </a:r>
            <a:r>
              <a:rPr lang="zh-TW" altLang="zh-TW" sz="2200" dirty="0">
                <a:solidFill>
                  <a:srgbClr val="0000FF"/>
                </a:solidFill>
                <a:latin typeface="+mn-ea"/>
              </a:rPr>
              <a:t>圖檔</a:t>
            </a:r>
            <a:r>
              <a:rPr lang="zh-TW" altLang="zh-TW" sz="2200" dirty="0">
                <a:latin typeface="+mn-ea"/>
              </a:rPr>
              <a:t>、</a:t>
            </a:r>
            <a:r>
              <a:rPr lang="en-US" altLang="zh-TW" sz="2200" dirty="0">
                <a:latin typeface="+mn-ea"/>
              </a:rPr>
              <a:t>pdf</a:t>
            </a:r>
            <a:r>
              <a:rPr lang="zh-TW" altLang="zh-TW" sz="2200" dirty="0" smtClean="0">
                <a:latin typeface="+mn-ea"/>
              </a:rPr>
              <a:t>檔</a:t>
            </a:r>
            <a:r>
              <a:rPr lang="en-US" altLang="zh-TW" sz="2200" dirty="0" smtClean="0">
                <a:latin typeface="+mn-ea"/>
              </a:rPr>
              <a:t>)</a:t>
            </a:r>
            <a:r>
              <a:rPr lang="zh-TW" altLang="zh-TW" sz="2200" dirty="0">
                <a:latin typeface="+mn-ea"/>
              </a:rPr>
              <a:t>，掃描要清楚、避免歪斜、掃描時請</a:t>
            </a:r>
            <a:r>
              <a:rPr lang="zh-TW" altLang="zh-TW" sz="2200" dirty="0">
                <a:solidFill>
                  <a:srgbClr val="0000FF"/>
                </a:solidFill>
                <a:latin typeface="+mn-ea"/>
              </a:rPr>
              <a:t>在表格背面放一張</a:t>
            </a:r>
            <a:r>
              <a:rPr lang="zh-TW" altLang="zh-TW" sz="2200" dirty="0">
                <a:solidFill>
                  <a:srgbClr val="FF0000"/>
                </a:solidFill>
                <a:latin typeface="+mn-ea"/>
              </a:rPr>
              <a:t>色紙</a:t>
            </a:r>
            <a:r>
              <a:rPr lang="zh-TW" altLang="zh-TW" sz="2200" dirty="0">
                <a:latin typeface="+mn-ea"/>
              </a:rPr>
              <a:t>，以利剪裁。</a:t>
            </a:r>
          </a:p>
          <a:p>
            <a:pPr marL="1371600" lvl="2" indent="-457200">
              <a:buFont typeface="+mj-lt"/>
              <a:buAutoNum type="circleNumWdWhitePlain"/>
            </a:pPr>
            <a:r>
              <a:rPr lang="zh-TW" altLang="zh-TW" sz="2200" dirty="0">
                <a:latin typeface="+mn-ea"/>
              </a:rPr>
              <a:t>將掃描後的表格</a:t>
            </a:r>
            <a:r>
              <a:rPr lang="zh-TW" altLang="zh-TW" sz="2200" dirty="0" smtClean="0">
                <a:latin typeface="+mn-ea"/>
              </a:rPr>
              <a:t>檔案提供</a:t>
            </a:r>
            <a:r>
              <a:rPr lang="zh-TW" altLang="zh-TW" sz="2200" dirty="0">
                <a:latin typeface="+mn-ea"/>
              </a:rPr>
              <a:t>給</a:t>
            </a:r>
            <a:r>
              <a:rPr lang="zh-TW" altLang="zh-TW" sz="2200" dirty="0" smtClean="0">
                <a:latin typeface="+mn-ea"/>
              </a:rPr>
              <a:t>我們</a:t>
            </a:r>
            <a:r>
              <a:rPr lang="zh-TW" altLang="en-US" sz="2200" dirty="0" smtClean="0">
                <a:latin typeface="+mn-ea"/>
              </a:rPr>
              <a:t>。</a:t>
            </a:r>
            <a:endParaRPr lang="zh-TW" altLang="zh-TW" sz="2200" dirty="0">
              <a:latin typeface="+mn-ea"/>
            </a:endParaRPr>
          </a:p>
          <a:p>
            <a:pPr marL="1371600" lvl="2" indent="-457200">
              <a:buFont typeface="+mj-lt"/>
              <a:buAutoNum type="circleNumWdWhitePlain"/>
            </a:pPr>
            <a:r>
              <a:rPr lang="zh-TW" altLang="zh-TW" sz="2200" dirty="0" smtClean="0">
                <a:solidFill>
                  <a:srgbClr val="FF0000"/>
                </a:solidFill>
                <a:latin typeface="+mn-ea"/>
              </a:rPr>
              <a:t>用</a:t>
            </a:r>
            <a:r>
              <a:rPr lang="zh-TW" altLang="zh-TW" sz="2200" dirty="0">
                <a:solidFill>
                  <a:srgbClr val="FF0000"/>
                </a:solidFill>
                <a:latin typeface="+mn-ea"/>
              </a:rPr>
              <a:t>尺量</a:t>
            </a:r>
            <a:r>
              <a:rPr lang="zh-TW" altLang="zh-TW" sz="2200" dirty="0">
                <a:latin typeface="+mn-ea"/>
              </a:rPr>
              <a:t>表格的</a:t>
            </a:r>
            <a:r>
              <a:rPr lang="zh-TW" altLang="zh-TW" sz="2200" dirty="0" smtClean="0">
                <a:solidFill>
                  <a:srgbClr val="0000FF"/>
                </a:solidFill>
                <a:latin typeface="+mn-ea"/>
              </a:rPr>
              <a:t>長</a:t>
            </a:r>
            <a:r>
              <a:rPr lang="zh-TW" altLang="en-US" sz="2200" dirty="0" smtClean="0">
                <a:latin typeface="+mn-ea"/>
              </a:rPr>
              <a:t>、</a:t>
            </a:r>
            <a:r>
              <a:rPr lang="zh-TW" altLang="zh-TW" sz="2200" dirty="0" smtClean="0">
                <a:solidFill>
                  <a:srgbClr val="0000FF"/>
                </a:solidFill>
                <a:latin typeface="+mn-ea"/>
              </a:rPr>
              <a:t>寬</a:t>
            </a:r>
            <a:r>
              <a:rPr lang="zh-TW" altLang="zh-TW" sz="2200" dirty="0">
                <a:latin typeface="+mn-ea"/>
              </a:rPr>
              <a:t>資料，提供</a:t>
            </a:r>
            <a:r>
              <a:rPr lang="zh-TW" altLang="zh-TW" sz="2200" dirty="0">
                <a:solidFill>
                  <a:srgbClr val="FF0000"/>
                </a:solidFill>
                <a:latin typeface="+mn-ea"/>
              </a:rPr>
              <a:t>精確</a:t>
            </a:r>
            <a:r>
              <a:rPr lang="zh-TW" altLang="zh-TW" sz="2200" dirty="0">
                <a:latin typeface="+mn-ea"/>
              </a:rPr>
              <a:t>的尺寸。</a:t>
            </a:r>
          </a:p>
          <a:p>
            <a:pPr marL="0" indent="0">
              <a:spcAft>
                <a:spcPts val="1800"/>
              </a:spcAft>
              <a:buNone/>
            </a:pPr>
            <a:r>
              <a:rPr lang="zh-TW" altLang="zh-TW" sz="2200" b="1" dirty="0">
                <a:latin typeface="+mn-ea"/>
              </a:rPr>
              <a:t>備註</a:t>
            </a:r>
            <a:r>
              <a:rPr lang="zh-TW" altLang="zh-TW" sz="2200" b="1" dirty="0" smtClean="0">
                <a:latin typeface="+mn-ea"/>
              </a:rPr>
              <a:t>：</a:t>
            </a:r>
            <a:r>
              <a:rPr lang="zh-TW" altLang="zh-TW" sz="2200" dirty="0" smtClean="0">
                <a:latin typeface="+mn-ea"/>
              </a:rPr>
              <a:t>尺寸</a:t>
            </a:r>
            <a:r>
              <a:rPr lang="zh-TW" altLang="zh-TW" sz="2200" dirty="0">
                <a:latin typeface="+mn-ea"/>
              </a:rPr>
              <a:t>單位為</a:t>
            </a:r>
            <a:r>
              <a:rPr lang="zh-TW" altLang="zh-TW" sz="2200" dirty="0">
                <a:solidFill>
                  <a:srgbClr val="0000FF"/>
                </a:solidFill>
                <a:latin typeface="+mn-ea"/>
              </a:rPr>
              <a:t>公制</a:t>
            </a:r>
            <a:r>
              <a:rPr lang="en-US" altLang="zh-TW" sz="2200" dirty="0">
                <a:solidFill>
                  <a:srgbClr val="0000FF"/>
                </a:solidFill>
                <a:latin typeface="+mn-ea"/>
              </a:rPr>
              <a:t>mm</a:t>
            </a:r>
            <a:r>
              <a:rPr lang="en-US" altLang="zh-TW" sz="2200" dirty="0">
                <a:latin typeface="+mn-ea"/>
              </a:rPr>
              <a:t>(1</a:t>
            </a:r>
            <a:r>
              <a:rPr lang="zh-TW" altLang="zh-TW" sz="2200" dirty="0">
                <a:latin typeface="+mn-ea"/>
              </a:rPr>
              <a:t>公分</a:t>
            </a:r>
            <a:r>
              <a:rPr lang="en-US" altLang="zh-TW" sz="2200" dirty="0">
                <a:latin typeface="+mn-ea"/>
              </a:rPr>
              <a:t>=10mm)</a:t>
            </a:r>
            <a:r>
              <a:rPr lang="zh-TW" altLang="zh-TW" sz="2200" dirty="0">
                <a:latin typeface="+mn-ea"/>
              </a:rPr>
              <a:t>，例如寬</a:t>
            </a:r>
            <a:r>
              <a:rPr lang="en-US" altLang="zh-TW" sz="2200" dirty="0">
                <a:latin typeface="+mn-ea"/>
              </a:rPr>
              <a:t>228mm</a:t>
            </a:r>
            <a:r>
              <a:rPr lang="zh-TW" altLang="zh-TW" sz="2200" dirty="0">
                <a:latin typeface="+mn-ea"/>
              </a:rPr>
              <a:t>、長</a:t>
            </a:r>
            <a:r>
              <a:rPr lang="en-US" altLang="zh-TW" sz="2200" dirty="0">
                <a:latin typeface="+mn-ea"/>
              </a:rPr>
              <a:t>(</a:t>
            </a:r>
            <a:r>
              <a:rPr lang="zh-TW" altLang="zh-TW" sz="2200" dirty="0">
                <a:latin typeface="+mn-ea"/>
              </a:rPr>
              <a:t>高</a:t>
            </a:r>
            <a:r>
              <a:rPr lang="en-US" altLang="zh-TW" sz="2200" dirty="0">
                <a:latin typeface="+mn-ea"/>
              </a:rPr>
              <a:t>)84.6mm</a:t>
            </a:r>
            <a:r>
              <a:rPr lang="zh-TW" altLang="zh-TW" sz="2200" dirty="0">
                <a:latin typeface="+mn-ea"/>
              </a:rPr>
              <a:t>。</a:t>
            </a:r>
          </a:p>
          <a:p>
            <a:pPr marL="914400" lvl="1" indent="-457200">
              <a:buFont typeface="+mj-lt"/>
              <a:buAutoNum type="arabicPeriod" startAt="5"/>
            </a:pPr>
            <a:endParaRPr lang="zh-TW" altLang="zh-TW" dirty="0"/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838200" y="365125"/>
            <a:ext cx="10515600" cy="8444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sz="3600" dirty="0"/>
              <a:t>套印</a:t>
            </a:r>
            <a:r>
              <a:rPr lang="zh-TW" altLang="en-US" sz="3600" dirty="0" smtClean="0"/>
              <a:t>測試</a:t>
            </a:r>
            <a:r>
              <a:rPr lang="en-US" altLang="zh-TW" sz="3600" dirty="0" smtClean="0"/>
              <a:t>-</a:t>
            </a:r>
            <a:r>
              <a:rPr lang="zh-TW" altLang="en-US" sz="3600" dirty="0" smtClean="0"/>
              <a:t>依套結果調整</a:t>
            </a:r>
            <a:r>
              <a:rPr lang="en-US" altLang="zh-TW" sz="2400" dirty="0" smtClean="0"/>
              <a:t>(3/4)</a:t>
            </a:r>
            <a:endParaRPr lang="zh-TW" altLang="en-US" sz="24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EF07-459A-4CB9-B1F3-0734876A23B5}" type="slidenum">
              <a:rPr lang="zh-TW" altLang="en-US" smtClean="0"/>
              <a:t>12</a:t>
            </a:fld>
            <a:endParaRPr lang="zh-TW" altLang="en-US"/>
          </a:p>
        </p:txBody>
      </p:sp>
      <p:pic>
        <p:nvPicPr>
          <p:cNvPr id="6" name="圖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584510" y="1502636"/>
            <a:ext cx="4769290" cy="21647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12" name="文字方塊 11"/>
          <p:cNvSpPr txBox="1"/>
          <p:nvPr/>
        </p:nvSpPr>
        <p:spPr>
          <a:xfrm>
            <a:off x="9943368" y="1584506"/>
            <a:ext cx="1343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  </a:t>
            </a:r>
            <a:r>
              <a:rPr lang="en-US" altLang="zh-TW" sz="1200" dirty="0" smtClean="0"/>
              <a:t>109       6        8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7524749" y="2153353"/>
            <a:ext cx="1276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1200" kern="0" spc="10" dirty="0" smtClean="0"/>
              <a:t>$ 6  5  0 0  0  -   - </a:t>
            </a:r>
            <a:endParaRPr lang="zh-TW" altLang="en-US" sz="1200" kern="0" spc="1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10010044" y="2354155"/>
            <a:ext cx="1276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1200" kern="0" spc="10" dirty="0" smtClean="0"/>
              <a:t>$65,000-</a:t>
            </a:r>
          </a:p>
          <a:p>
            <a:pPr algn="just"/>
            <a:r>
              <a:rPr lang="en-US" altLang="zh-TW" sz="1200" kern="0" spc="10" dirty="0" smtClean="0"/>
              <a:t> </a:t>
            </a:r>
            <a:endParaRPr lang="zh-TW" altLang="en-US" sz="1200" kern="0" spc="1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7666892" y="2690291"/>
            <a:ext cx="23622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1200" kern="0" spc="300" dirty="0" smtClean="0"/>
              <a:t>1234567890123</a:t>
            </a:r>
            <a:endParaRPr lang="zh-TW" altLang="en-US" sz="1200" kern="0" spc="300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8345403" y="3775693"/>
            <a:ext cx="180049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zh-TW" dirty="0"/>
              <a:t>沒有規則的偏移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355720858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495425"/>
            <a:ext cx="7848600" cy="2428393"/>
          </a:xfrm>
          <a:solidFill>
            <a:schemeClr val="accent4">
              <a:lumMod val="20000"/>
              <a:lumOff val="80000"/>
            </a:schemeClr>
          </a:solidFill>
        </p:spPr>
        <p:txBody>
          <a:bodyPr>
            <a:normAutofit fontScale="85000" lnSpcReduction="10000"/>
          </a:bodyPr>
          <a:lstStyle/>
          <a:p>
            <a:pPr marL="514350" lvl="0" indent="-514350">
              <a:buFont typeface="+mj-lt"/>
              <a:buAutoNum type="arabicPeriod"/>
            </a:pPr>
            <a:r>
              <a:rPr lang="zh-TW" altLang="zh-TW" sz="2400" dirty="0">
                <a:latin typeface="+mn-ea"/>
              </a:rPr>
              <a:t>檢視套印結果：再決定下一步，依說明完成後 請再印</a:t>
            </a:r>
            <a:r>
              <a:rPr lang="en-US" altLang="zh-TW" sz="2400" dirty="0">
                <a:latin typeface="+mn-ea"/>
              </a:rPr>
              <a:t>1</a:t>
            </a:r>
            <a:r>
              <a:rPr lang="zh-TW" altLang="zh-TW" sz="2400" dirty="0">
                <a:latin typeface="+mn-ea"/>
              </a:rPr>
              <a:t>次。</a:t>
            </a:r>
            <a:endParaRPr lang="zh-TW" altLang="zh-TW" sz="2100" dirty="0">
              <a:latin typeface="+mn-ea"/>
            </a:endParaRPr>
          </a:p>
          <a:p>
            <a:pPr marL="914400" lvl="1" indent="-457200">
              <a:buFont typeface="+mj-lt"/>
              <a:buAutoNum type="arabicParenR"/>
            </a:pPr>
            <a:r>
              <a:rPr lang="zh-TW" altLang="zh-TW" b="1" dirty="0">
                <a:latin typeface="+mn-ea"/>
              </a:rPr>
              <a:t>斜一邊</a:t>
            </a:r>
            <a:endParaRPr lang="zh-TW" altLang="zh-TW" sz="2000" b="1" dirty="0">
              <a:latin typeface="+mn-ea"/>
            </a:endParaRPr>
          </a:p>
          <a:p>
            <a:pPr marL="1371600" lvl="2" indent="-457200">
              <a:buFont typeface="Wingdings" panose="05000000000000000000" pitchFamily="2" charset="2"/>
              <a:buAutoNum type="circleNumWdWhitePlain"/>
            </a:pPr>
            <a:r>
              <a:rPr lang="zh-TW" altLang="zh-TW" dirty="0" smtClean="0">
                <a:solidFill>
                  <a:srgbClr val="0000FF"/>
                </a:solidFill>
                <a:latin typeface="+mn-ea"/>
              </a:rPr>
              <a:t>印表機</a:t>
            </a:r>
            <a:r>
              <a:rPr lang="zh-TW" altLang="en-US" dirty="0" smtClean="0">
                <a:latin typeface="+mn-ea"/>
              </a:rPr>
              <a:t>：</a:t>
            </a:r>
            <a:r>
              <a:rPr lang="zh-TW" altLang="zh-TW" dirty="0" smtClean="0">
                <a:latin typeface="+mn-ea"/>
              </a:rPr>
              <a:t>滾輪</a:t>
            </a:r>
            <a:r>
              <a:rPr lang="zh-TW" altLang="en-US" dirty="0" smtClean="0">
                <a:latin typeface="+mn-ea"/>
              </a:rPr>
              <a:t>已</a:t>
            </a:r>
            <a:r>
              <a:rPr lang="zh-TW" altLang="zh-TW" dirty="0" smtClean="0">
                <a:latin typeface="+mn-ea"/>
              </a:rPr>
              <a:t>磨損</a:t>
            </a:r>
            <a:r>
              <a:rPr lang="zh-TW" altLang="en-US" dirty="0" smtClean="0">
                <a:latin typeface="+mn-ea"/>
              </a:rPr>
              <a:t>需要</a:t>
            </a:r>
            <a:r>
              <a:rPr lang="zh-TW" altLang="zh-TW" dirty="0" smtClean="0">
                <a:latin typeface="+mn-ea"/>
              </a:rPr>
              <a:t>更換</a:t>
            </a:r>
            <a:r>
              <a:rPr lang="zh-TW" altLang="en-US" dirty="0" smtClean="0">
                <a:latin typeface="+mn-ea"/>
              </a:rPr>
              <a:t>。</a:t>
            </a:r>
            <a:endParaRPr lang="zh-TW" altLang="zh-TW" sz="1800" dirty="0">
              <a:latin typeface="+mn-ea"/>
            </a:endParaRPr>
          </a:p>
          <a:p>
            <a:pPr marL="1371600" lvl="2" indent="-457200">
              <a:buFont typeface="+mj-lt"/>
              <a:buAutoNum type="circleNumWdWhitePlain"/>
            </a:pPr>
            <a:r>
              <a:rPr lang="zh-TW" altLang="zh-TW" dirty="0">
                <a:solidFill>
                  <a:srgbClr val="0000FF"/>
                </a:solidFill>
                <a:latin typeface="+mn-ea"/>
              </a:rPr>
              <a:t>調整套印方式</a:t>
            </a:r>
            <a:r>
              <a:rPr lang="zh-TW" altLang="zh-TW" dirty="0" smtClean="0">
                <a:latin typeface="+mn-ea"/>
              </a:rPr>
              <a:t>：</a:t>
            </a:r>
            <a:r>
              <a:rPr lang="zh-TW" altLang="en-US" dirty="0" smtClean="0">
                <a:latin typeface="+mn-ea"/>
              </a:rPr>
              <a:t>改變</a:t>
            </a:r>
            <a:r>
              <a:rPr lang="zh-TW" altLang="zh-TW" dirty="0" smtClean="0">
                <a:latin typeface="+mn-ea"/>
              </a:rPr>
              <a:t>表格</a:t>
            </a:r>
            <a:r>
              <a:rPr lang="zh-TW" altLang="en-US" dirty="0" smtClean="0">
                <a:latin typeface="+mn-ea"/>
              </a:rPr>
              <a:t>置入</a:t>
            </a:r>
            <a:r>
              <a:rPr lang="zh-TW" altLang="zh-TW" dirty="0" smtClean="0">
                <a:latin typeface="+mn-ea"/>
              </a:rPr>
              <a:t>印表機</a:t>
            </a:r>
            <a:r>
              <a:rPr lang="zh-TW" altLang="en-US" dirty="0" smtClean="0">
                <a:latin typeface="+mn-ea"/>
              </a:rPr>
              <a:t>的方向，並進入「常用 </a:t>
            </a:r>
            <a:r>
              <a:rPr lang="en-US" altLang="zh-TW" dirty="0" smtClean="0">
                <a:latin typeface="+mn-ea"/>
              </a:rPr>
              <a:t>&gt; </a:t>
            </a:r>
            <a:r>
              <a:rPr lang="zh-TW" altLang="en-US" dirty="0" smtClean="0">
                <a:latin typeface="+mn-ea"/>
              </a:rPr>
              <a:t>印表機」將列印方向改為橫印」讓表格進出印表機的長度最長。</a:t>
            </a:r>
            <a:endParaRPr lang="zh-TW" altLang="zh-TW" sz="1800" dirty="0" smtClean="0">
              <a:latin typeface="+mn-ea"/>
            </a:endParaRPr>
          </a:p>
          <a:p>
            <a:pPr marL="914400" lvl="1" indent="-457200">
              <a:buFont typeface="+mj-lt"/>
              <a:buAutoNum type="arabicParenR"/>
            </a:pPr>
            <a:r>
              <a:rPr lang="zh-TW" altLang="en-US" b="1" dirty="0" smtClean="0">
                <a:latin typeface="+mn-ea"/>
              </a:rPr>
              <a:t>套印</a:t>
            </a:r>
            <a:r>
              <a:rPr lang="zh-TW" altLang="zh-TW" b="1" dirty="0" smtClean="0">
                <a:latin typeface="+mn-ea"/>
              </a:rPr>
              <a:t>資料與表格印刷字體呈</a:t>
            </a:r>
            <a:r>
              <a:rPr lang="en-US" altLang="zh-TW" b="1" dirty="0" smtClean="0">
                <a:latin typeface="+mn-ea"/>
              </a:rPr>
              <a:t>90</a:t>
            </a:r>
            <a:r>
              <a:rPr lang="zh-TW" altLang="zh-TW" b="1" dirty="0" smtClean="0">
                <a:latin typeface="+mn-ea"/>
              </a:rPr>
              <a:t>度</a:t>
            </a:r>
            <a:r>
              <a:rPr lang="zh-TW" altLang="zh-TW" dirty="0" smtClean="0">
                <a:latin typeface="+mn-ea"/>
              </a:rPr>
              <a:t>：下列方式擇</a:t>
            </a:r>
            <a:r>
              <a:rPr lang="en-US" altLang="zh-TW" dirty="0" smtClean="0">
                <a:latin typeface="+mn-ea"/>
              </a:rPr>
              <a:t>1</a:t>
            </a:r>
            <a:r>
              <a:rPr lang="zh-TW" altLang="zh-TW" dirty="0" smtClean="0">
                <a:latin typeface="+mn-ea"/>
              </a:rPr>
              <a:t>處理</a:t>
            </a:r>
            <a:endParaRPr lang="zh-TW" altLang="zh-TW" sz="2000" dirty="0" smtClean="0">
              <a:latin typeface="+mn-ea"/>
            </a:endParaRPr>
          </a:p>
          <a:p>
            <a:pPr marL="1371600" lvl="2" indent="-457200">
              <a:buFont typeface="Wingdings" panose="05000000000000000000" pitchFamily="2" charset="2"/>
              <a:buAutoNum type="circleNumWdWhitePlain"/>
            </a:pPr>
            <a:r>
              <a:rPr lang="zh-TW" altLang="zh-TW" dirty="0" smtClean="0">
                <a:latin typeface="+mn-ea"/>
              </a:rPr>
              <a:t>將</a:t>
            </a:r>
            <a:r>
              <a:rPr lang="zh-TW" altLang="zh-TW" dirty="0">
                <a:latin typeface="+mn-ea"/>
              </a:rPr>
              <a:t>表格轉</a:t>
            </a:r>
            <a:r>
              <a:rPr lang="en-US" altLang="zh-TW" dirty="0">
                <a:latin typeface="+mn-ea"/>
              </a:rPr>
              <a:t>90</a:t>
            </a:r>
            <a:r>
              <a:rPr lang="zh-TW" altLang="zh-TW" dirty="0">
                <a:latin typeface="+mn-ea"/>
              </a:rPr>
              <a:t>度，要考慮表格是否可以置入印表機並執行套印。</a:t>
            </a:r>
            <a:endParaRPr lang="zh-TW" altLang="zh-TW" sz="1800" dirty="0">
              <a:latin typeface="+mn-ea"/>
            </a:endParaRPr>
          </a:p>
          <a:p>
            <a:pPr marL="1371600" lvl="2" indent="-457200">
              <a:buFont typeface="+mj-lt"/>
              <a:buAutoNum type="circleNumWdWhitePlain"/>
            </a:pPr>
            <a:r>
              <a:rPr lang="zh-TW" altLang="zh-TW" dirty="0">
                <a:latin typeface="+mn-ea"/>
              </a:rPr>
              <a:t>執行「常用 </a:t>
            </a:r>
            <a:r>
              <a:rPr lang="en-US" altLang="zh-TW" dirty="0">
                <a:latin typeface="+mn-ea"/>
              </a:rPr>
              <a:t>&gt; </a:t>
            </a:r>
            <a:r>
              <a:rPr lang="zh-TW" altLang="zh-TW" dirty="0">
                <a:latin typeface="+mn-ea"/>
              </a:rPr>
              <a:t>印表機」將列印方向改為另</a:t>
            </a:r>
            <a:r>
              <a:rPr lang="zh-TW" altLang="zh-TW" dirty="0" smtClean="0">
                <a:latin typeface="+mn-ea"/>
              </a:rPr>
              <a:t>一種</a:t>
            </a:r>
            <a:r>
              <a:rPr lang="en-US" altLang="zh-TW" dirty="0" smtClean="0">
                <a:latin typeface="+mn-ea"/>
              </a:rPr>
              <a:t>(</a:t>
            </a:r>
            <a:r>
              <a:rPr lang="zh-TW" altLang="en-US" dirty="0" smtClean="0">
                <a:solidFill>
                  <a:srgbClr val="0000FF"/>
                </a:solidFill>
                <a:latin typeface="+mn-ea"/>
              </a:rPr>
              <a:t>直印</a:t>
            </a:r>
            <a:r>
              <a:rPr lang="zh-TW" altLang="en-US" dirty="0" smtClean="0">
                <a:latin typeface="+mn-ea"/>
              </a:rPr>
              <a:t> </a:t>
            </a:r>
            <a:r>
              <a:rPr lang="en-US" altLang="zh-TW" dirty="0" smtClean="0">
                <a:solidFill>
                  <a:srgbClr val="FF0000"/>
                </a:solidFill>
                <a:latin typeface="+mn-ea"/>
              </a:rPr>
              <a:t>&lt;&gt;</a:t>
            </a:r>
            <a:r>
              <a:rPr lang="en-US" altLang="zh-TW" dirty="0" smtClean="0">
                <a:latin typeface="+mn-ea"/>
              </a:rPr>
              <a:t> </a:t>
            </a:r>
            <a:r>
              <a:rPr lang="zh-TW" altLang="en-US" dirty="0" smtClean="0">
                <a:solidFill>
                  <a:srgbClr val="0000FF"/>
                </a:solidFill>
                <a:latin typeface="+mn-ea"/>
              </a:rPr>
              <a:t>橫印</a:t>
            </a:r>
            <a:r>
              <a:rPr lang="en-US" altLang="zh-TW" dirty="0">
                <a:latin typeface="+mn-ea"/>
              </a:rPr>
              <a:t>)</a:t>
            </a:r>
            <a:r>
              <a:rPr lang="zh-TW" altLang="zh-TW" dirty="0" smtClean="0">
                <a:latin typeface="+mn-ea"/>
              </a:rPr>
              <a:t>。</a:t>
            </a:r>
            <a:endParaRPr lang="zh-TW" altLang="zh-TW" sz="1800" dirty="0">
              <a:latin typeface="+mn-ea"/>
            </a:endParaRP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838200" y="365125"/>
            <a:ext cx="10515600" cy="8444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sz="3600" dirty="0"/>
              <a:t>套印</a:t>
            </a:r>
            <a:r>
              <a:rPr lang="zh-TW" altLang="en-US" sz="3600" dirty="0" smtClean="0"/>
              <a:t>測試</a:t>
            </a:r>
            <a:r>
              <a:rPr lang="en-US" altLang="zh-TW" sz="3600" dirty="0" smtClean="0"/>
              <a:t>-</a:t>
            </a:r>
            <a:r>
              <a:rPr lang="zh-TW" altLang="en-US" sz="3600" dirty="0" smtClean="0"/>
              <a:t>依套結果調整</a:t>
            </a:r>
            <a:r>
              <a:rPr lang="en-US" altLang="zh-TW" sz="2400" dirty="0" smtClean="0"/>
              <a:t>(4/4)</a:t>
            </a:r>
            <a:endParaRPr lang="zh-TW" altLang="en-US" sz="24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EF07-459A-4CB9-B1F3-0734876A23B5}" type="slidenum">
              <a:rPr lang="zh-TW" altLang="en-US" smtClean="0"/>
              <a:t>13</a:t>
            </a:fld>
            <a:endParaRPr lang="zh-TW" altLang="en-US"/>
          </a:p>
        </p:txBody>
      </p:sp>
      <p:pic>
        <p:nvPicPr>
          <p:cNvPr id="5" name="圖片 4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3098" y="4109057"/>
            <a:ext cx="4769290" cy="2164701"/>
          </a:xfrm>
          <a:prstGeom prst="rect">
            <a:avLst/>
          </a:prstGeom>
          <a:ln>
            <a:solidFill>
              <a:schemeClr val="tx1"/>
            </a:solidFill>
          </a:ln>
        </p:spPr>
      </p:pic>
      <p:pic>
        <p:nvPicPr>
          <p:cNvPr id="6" name="圖片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 rot="5400000">
            <a:off x="7886804" y="2614717"/>
            <a:ext cx="4769290" cy="2164701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7" name="文字方塊 6"/>
          <p:cNvSpPr txBox="1"/>
          <p:nvPr/>
        </p:nvSpPr>
        <p:spPr>
          <a:xfrm rot="20835041">
            <a:off x="1589460" y="4031416"/>
            <a:ext cx="1343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  </a:t>
            </a:r>
            <a:r>
              <a:rPr lang="en-US" altLang="zh-TW" sz="1200" dirty="0" smtClean="0"/>
              <a:t>109       6        8</a:t>
            </a:r>
            <a:endParaRPr lang="zh-TW" altLang="en-US" dirty="0"/>
          </a:p>
        </p:txBody>
      </p:sp>
      <p:sp>
        <p:nvSpPr>
          <p:cNvPr id="8" name="文字方塊 7"/>
          <p:cNvSpPr txBox="1"/>
          <p:nvPr/>
        </p:nvSpPr>
        <p:spPr>
          <a:xfrm rot="20418635">
            <a:off x="2181397" y="4428837"/>
            <a:ext cx="1276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1200" kern="0" spc="10" dirty="0" smtClean="0"/>
              <a:t>$ 6  5  0 0  0  -   - </a:t>
            </a:r>
            <a:endParaRPr lang="zh-TW" altLang="en-US" sz="1200" kern="0" spc="10" dirty="0"/>
          </a:p>
        </p:txBody>
      </p:sp>
      <p:sp>
        <p:nvSpPr>
          <p:cNvPr id="9" name="文字方塊 8"/>
          <p:cNvSpPr txBox="1"/>
          <p:nvPr/>
        </p:nvSpPr>
        <p:spPr>
          <a:xfrm rot="20539598">
            <a:off x="1732845" y="4780132"/>
            <a:ext cx="1276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1200" kern="0" spc="10" dirty="0" smtClean="0"/>
              <a:t>$65,000-</a:t>
            </a:r>
          </a:p>
          <a:p>
            <a:pPr algn="just"/>
            <a:r>
              <a:rPr lang="en-US" altLang="zh-TW" sz="1200" kern="0" spc="10" dirty="0" smtClean="0"/>
              <a:t> </a:t>
            </a:r>
            <a:endParaRPr lang="zh-TW" altLang="en-US" sz="1200" kern="0" spc="10" dirty="0"/>
          </a:p>
        </p:txBody>
      </p:sp>
      <p:sp>
        <p:nvSpPr>
          <p:cNvPr id="10" name="文字方塊 9"/>
          <p:cNvSpPr txBox="1"/>
          <p:nvPr/>
        </p:nvSpPr>
        <p:spPr>
          <a:xfrm rot="20450821">
            <a:off x="1495424" y="5119320"/>
            <a:ext cx="23622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1200" kern="0" spc="590" dirty="0" smtClean="0"/>
              <a:t>1234567890123</a:t>
            </a:r>
            <a:endParaRPr lang="zh-TW" altLang="en-US" sz="1200" kern="0" spc="10" dirty="0"/>
          </a:p>
        </p:txBody>
      </p:sp>
      <p:sp>
        <p:nvSpPr>
          <p:cNvPr id="12" name="文字方塊 11"/>
          <p:cNvSpPr txBox="1"/>
          <p:nvPr/>
        </p:nvSpPr>
        <p:spPr>
          <a:xfrm>
            <a:off x="9294277" y="1792321"/>
            <a:ext cx="13430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TW" dirty="0" smtClean="0"/>
              <a:t>  </a:t>
            </a:r>
            <a:r>
              <a:rPr lang="en-US" altLang="zh-TW" sz="1200" dirty="0" smtClean="0"/>
              <a:t>109       6        8</a:t>
            </a:r>
            <a:endParaRPr lang="zh-TW" altLang="en-US" dirty="0"/>
          </a:p>
        </p:txBody>
      </p:sp>
      <p:sp>
        <p:nvSpPr>
          <p:cNvPr id="13" name="文字方塊 12"/>
          <p:cNvSpPr txBox="1"/>
          <p:nvPr/>
        </p:nvSpPr>
        <p:spPr>
          <a:xfrm>
            <a:off x="9808628" y="2345415"/>
            <a:ext cx="127635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1200" kern="0" spc="10" dirty="0" smtClean="0"/>
              <a:t>$ 6  5  0 0  0  -   - </a:t>
            </a:r>
            <a:endParaRPr lang="zh-TW" altLang="en-US" sz="1200" kern="0" spc="10" dirty="0"/>
          </a:p>
        </p:txBody>
      </p:sp>
      <p:sp>
        <p:nvSpPr>
          <p:cNvPr id="14" name="文字方塊 13"/>
          <p:cNvSpPr txBox="1"/>
          <p:nvPr/>
        </p:nvSpPr>
        <p:spPr>
          <a:xfrm>
            <a:off x="9360953" y="2565600"/>
            <a:ext cx="127635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1200" kern="0" spc="10" dirty="0" smtClean="0"/>
              <a:t>$65,000-</a:t>
            </a:r>
          </a:p>
          <a:p>
            <a:pPr algn="just"/>
            <a:r>
              <a:rPr lang="en-US" altLang="zh-TW" sz="1200" kern="0" spc="10" dirty="0" smtClean="0"/>
              <a:t> </a:t>
            </a:r>
            <a:endParaRPr lang="zh-TW" altLang="en-US" sz="1200" kern="0" spc="10" dirty="0"/>
          </a:p>
        </p:txBody>
      </p:sp>
      <p:sp>
        <p:nvSpPr>
          <p:cNvPr id="15" name="文字方塊 14"/>
          <p:cNvSpPr txBox="1"/>
          <p:nvPr/>
        </p:nvSpPr>
        <p:spPr>
          <a:xfrm>
            <a:off x="9113302" y="2887160"/>
            <a:ext cx="2362201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altLang="zh-TW" sz="1200" kern="0" spc="590" dirty="0" smtClean="0"/>
              <a:t>1234567890123</a:t>
            </a:r>
            <a:endParaRPr lang="zh-TW" altLang="en-US" sz="1200" kern="0" spc="10" dirty="0"/>
          </a:p>
        </p:txBody>
      </p:sp>
      <p:sp>
        <p:nvSpPr>
          <p:cNvPr id="16" name="文字方塊 15"/>
          <p:cNvSpPr txBox="1"/>
          <p:nvPr/>
        </p:nvSpPr>
        <p:spPr>
          <a:xfrm rot="20345644">
            <a:off x="2800350" y="6218607"/>
            <a:ext cx="87716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斜一邊</a:t>
            </a:r>
            <a:endParaRPr lang="zh-TW" altLang="en-US" dirty="0"/>
          </a:p>
        </p:txBody>
      </p:sp>
      <p:sp>
        <p:nvSpPr>
          <p:cNvPr id="17" name="文字方塊 16"/>
          <p:cNvSpPr txBox="1"/>
          <p:nvPr/>
        </p:nvSpPr>
        <p:spPr>
          <a:xfrm>
            <a:off x="9145149" y="6075865"/>
            <a:ext cx="2252600" cy="65481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TW" altLang="en-US" dirty="0"/>
              <a:t>套印</a:t>
            </a:r>
            <a:r>
              <a:rPr lang="zh-TW" altLang="zh-TW" dirty="0"/>
              <a:t>資料與表格印刷字體呈</a:t>
            </a:r>
            <a:r>
              <a:rPr lang="en-US" altLang="zh-TW" dirty="0"/>
              <a:t>90</a:t>
            </a:r>
            <a:r>
              <a:rPr lang="zh-TW" altLang="zh-TW" dirty="0"/>
              <a:t>度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657776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495426"/>
            <a:ext cx="10515600" cy="1779789"/>
          </a:xfrm>
        </p:spPr>
        <p:txBody>
          <a:bodyPr>
            <a:normAutofit/>
          </a:bodyPr>
          <a:lstStyle/>
          <a:p>
            <a:pPr marL="0" indent="0">
              <a:spcBef>
                <a:spcPts val="0"/>
              </a:spcBef>
              <a:buNone/>
            </a:pPr>
            <a:r>
              <a:rPr lang="zh-TW" altLang="en-US" sz="2400" dirty="0" smtClean="0"/>
              <a:t>　　</a:t>
            </a:r>
            <a:r>
              <a:rPr lang="zh-TW" altLang="zh-TW" sz="2400" dirty="0" smtClean="0"/>
              <a:t>經過</a:t>
            </a:r>
            <a:r>
              <a:rPr lang="zh-TW" altLang="zh-TW" sz="2400" dirty="0" smtClean="0"/>
              <a:t>上面</a:t>
            </a:r>
            <a:r>
              <a:rPr lang="zh-TW" altLang="en-US" sz="2400" dirty="0" smtClean="0"/>
              <a:t>幾次</a:t>
            </a:r>
            <a:r>
              <a:rPr lang="zh-TW" altLang="zh-TW" sz="2400" dirty="0" smtClean="0"/>
              <a:t>的調整</a:t>
            </a:r>
            <a:r>
              <a:rPr lang="zh-TW" altLang="en-US" sz="2400" dirty="0" smtClean="0"/>
              <a:t>後</a:t>
            </a:r>
            <a:r>
              <a:rPr lang="zh-TW" altLang="zh-TW" sz="2400" dirty="0" smtClean="0"/>
              <a:t>，您</a:t>
            </a:r>
            <a:r>
              <a:rPr lang="zh-TW" altLang="zh-TW" sz="2400" dirty="0"/>
              <a:t>應該</a:t>
            </a:r>
            <a:r>
              <a:rPr lang="zh-TW" altLang="zh-TW" sz="2400" dirty="0" smtClean="0"/>
              <a:t>可以</a:t>
            </a:r>
            <a:r>
              <a:rPr lang="zh-TW" altLang="en-US" sz="2400" dirty="0" smtClean="0"/>
              <a:t>套</a:t>
            </a:r>
            <a:r>
              <a:rPr lang="zh-TW" altLang="zh-TW" sz="2400" dirty="0" smtClean="0"/>
              <a:t>印</a:t>
            </a:r>
            <a:r>
              <a:rPr lang="zh-TW" altLang="zh-TW" sz="2400" dirty="0"/>
              <a:t>出漂亮又美觀的結果，而且所有的資料都在正確的位置上面</a:t>
            </a:r>
            <a:r>
              <a:rPr lang="zh-TW" altLang="zh-TW" sz="2400" dirty="0" smtClean="0"/>
              <a:t>了</a:t>
            </a:r>
            <a:r>
              <a:rPr lang="zh-TW" altLang="en-US" sz="2400" dirty="0" smtClean="0"/>
              <a:t>。</a:t>
            </a:r>
            <a:endParaRPr lang="en-US" altLang="zh-TW" sz="2400" dirty="0" smtClean="0"/>
          </a:p>
          <a:p>
            <a:pPr marL="0" indent="0">
              <a:spcBef>
                <a:spcPts val="0"/>
              </a:spcBef>
              <a:buNone/>
            </a:pPr>
            <a:r>
              <a:rPr lang="zh-TW" altLang="en-US" sz="2400" dirty="0" smtClean="0"/>
              <a:t>　　</a:t>
            </a:r>
            <a:r>
              <a:rPr lang="zh-TW" altLang="zh-TW" sz="2400" dirty="0" smtClean="0"/>
              <a:t>假如</a:t>
            </a:r>
            <a:r>
              <a:rPr lang="zh-TW" altLang="zh-TW" sz="2400" dirty="0"/>
              <a:t>您仍沒有辦法正確的將資料套印出表格上面，敬請與我們聯絡，由我們</a:t>
            </a:r>
            <a:r>
              <a:rPr lang="zh-TW" altLang="zh-TW" sz="2400" dirty="0">
                <a:solidFill>
                  <a:srgbClr val="0000FF"/>
                </a:solidFill>
              </a:rPr>
              <a:t>線上協助</a:t>
            </a:r>
            <a:r>
              <a:rPr lang="zh-TW" altLang="zh-TW" sz="2400" dirty="0"/>
              <a:t>或</a:t>
            </a:r>
            <a:r>
              <a:rPr lang="zh-TW" altLang="zh-TW" sz="2400" dirty="0">
                <a:solidFill>
                  <a:srgbClr val="0000FF"/>
                </a:solidFill>
              </a:rPr>
              <a:t>現場處理</a:t>
            </a:r>
            <a:r>
              <a:rPr lang="zh-TW" altLang="zh-TW" sz="2400" dirty="0"/>
              <a:t>，以克服您的套印問題。</a:t>
            </a:r>
          </a:p>
          <a:p>
            <a:pPr marL="0" lvl="0" indent="0">
              <a:buNone/>
            </a:pPr>
            <a:endParaRPr lang="zh-TW" altLang="en-US" dirty="0"/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838200" y="365125"/>
            <a:ext cx="10515600" cy="8444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sz="3600" dirty="0" smtClean="0"/>
              <a:t>結語</a:t>
            </a:r>
            <a:endParaRPr lang="zh-TW" altLang="en-US" sz="36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EF07-459A-4CB9-B1F3-0734876A23B5}" type="slidenum">
              <a:rPr lang="zh-TW" altLang="en-US" smtClean="0"/>
              <a:t>14</a:t>
            </a:fld>
            <a:endParaRPr lang="zh-TW" altLang="en-US" dirty="0"/>
          </a:p>
        </p:txBody>
      </p:sp>
      <p:pic>
        <p:nvPicPr>
          <p:cNvPr id="20" name="圖片 19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74324" y="3384785"/>
            <a:ext cx="5845233" cy="2614118"/>
          </a:xfrm>
          <a:prstGeom prst="rect">
            <a:avLst/>
          </a:prstGeom>
          <a:ln>
            <a:solidFill>
              <a:schemeClr val="tx1"/>
            </a:solidFill>
          </a:ln>
        </p:spPr>
      </p:pic>
      <p:sp>
        <p:nvSpPr>
          <p:cNvPr id="21" name="文字方塊 20"/>
          <p:cNvSpPr txBox="1"/>
          <p:nvPr/>
        </p:nvSpPr>
        <p:spPr>
          <a:xfrm>
            <a:off x="4952769" y="6101896"/>
            <a:ext cx="2723823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 smtClean="0"/>
              <a:t>套</a:t>
            </a:r>
            <a:r>
              <a:rPr lang="zh-TW" altLang="zh-TW" dirty="0" smtClean="0"/>
              <a:t>印</a:t>
            </a:r>
            <a:r>
              <a:rPr lang="zh-TW" altLang="zh-TW" dirty="0"/>
              <a:t>出漂亮又美觀的結果</a:t>
            </a:r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184705683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495425"/>
            <a:ext cx="10515600" cy="468153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zh-TW" altLang="en-US" b="1" dirty="0" smtClean="0">
                <a:latin typeface="+mn-ea"/>
              </a:rPr>
              <a:t>　　當套印測試已參照前說明，仍然無法正確套印，那可能有下列的問題：</a:t>
            </a:r>
            <a:endParaRPr lang="en-US" altLang="zh-TW" b="1" dirty="0" smtClean="0">
              <a:latin typeface="+mn-ea"/>
            </a:endParaRPr>
          </a:p>
          <a:p>
            <a:pPr marL="514350" indent="-514350">
              <a:buFont typeface="+mj-lt"/>
              <a:buAutoNum type="arabicPeriod"/>
            </a:pPr>
            <a:r>
              <a:rPr lang="zh-TW" altLang="en-US" b="1" dirty="0" smtClean="0">
                <a:solidFill>
                  <a:srgbClr val="0000FF"/>
                </a:solidFill>
                <a:latin typeface="+mn-ea"/>
              </a:rPr>
              <a:t>用</a:t>
            </a:r>
            <a:r>
              <a:rPr lang="en-US" altLang="zh-TW" b="1" dirty="0" smtClean="0">
                <a:solidFill>
                  <a:srgbClr val="0000FF"/>
                </a:solidFill>
                <a:latin typeface="+mn-ea"/>
              </a:rPr>
              <a:t>A4</a:t>
            </a:r>
            <a:r>
              <a:rPr lang="zh-TW" altLang="en-US" b="1" dirty="0" smtClean="0">
                <a:solidFill>
                  <a:srgbClr val="0000FF"/>
                </a:solidFill>
                <a:latin typeface="+mn-ea"/>
              </a:rPr>
              <a:t>執行套印</a:t>
            </a:r>
            <a:r>
              <a:rPr lang="zh-TW" altLang="en-US" b="1" dirty="0" smtClean="0">
                <a:latin typeface="+mn-ea"/>
              </a:rPr>
              <a:t>：千萬不要用這個方法，因為永遠套印不準。</a:t>
            </a:r>
            <a:endParaRPr lang="en-US" altLang="zh-TW" b="1" dirty="0" smtClean="0">
              <a:latin typeface="+mn-ea"/>
            </a:endParaRPr>
          </a:p>
          <a:p>
            <a:pPr marL="514350" indent="-514350">
              <a:buFont typeface="+mj-lt"/>
              <a:buAutoNum type="arabicPeriod"/>
            </a:pPr>
            <a:r>
              <a:rPr lang="zh-TW" altLang="en-US" b="1" dirty="0" smtClean="0">
                <a:solidFill>
                  <a:srgbClr val="0000FF"/>
                </a:solidFill>
                <a:latin typeface="+mn-ea"/>
              </a:rPr>
              <a:t>用影印表格套印</a:t>
            </a:r>
            <a:r>
              <a:rPr lang="zh-TW" altLang="en-US" b="1" dirty="0" smtClean="0">
                <a:latin typeface="+mn-ea"/>
              </a:rPr>
              <a:t>：</a:t>
            </a:r>
            <a:endParaRPr lang="en-US" altLang="zh-TW" b="1" dirty="0" smtClean="0">
              <a:latin typeface="+mn-ea"/>
            </a:endParaRPr>
          </a:p>
          <a:p>
            <a:pPr marL="914400" lvl="1" indent="-457200">
              <a:buFont typeface="+mj-lt"/>
              <a:buAutoNum type="arabicParenR"/>
            </a:pPr>
            <a:r>
              <a:rPr lang="zh-TW" altLang="en-US" b="1" dirty="0" smtClean="0">
                <a:latin typeface="+mn-ea"/>
              </a:rPr>
              <a:t>有些影印機影印出來的結果，其大小並不是</a:t>
            </a:r>
            <a:r>
              <a:rPr lang="en-US" altLang="zh-TW" b="1" dirty="0" smtClean="0">
                <a:latin typeface="+mn-ea"/>
              </a:rPr>
              <a:t>100%</a:t>
            </a:r>
            <a:r>
              <a:rPr lang="zh-TW" altLang="en-US" b="1" dirty="0" smtClean="0">
                <a:latin typeface="+mn-ea"/>
              </a:rPr>
              <a:t>，</a:t>
            </a:r>
            <a:endParaRPr lang="en-US" altLang="zh-TW" b="1" dirty="0" smtClean="0">
              <a:latin typeface="+mn-ea"/>
            </a:endParaRPr>
          </a:p>
          <a:p>
            <a:pPr marL="914400" lvl="1" indent="-457200">
              <a:buFont typeface="+mj-lt"/>
              <a:buAutoNum type="arabicParenR"/>
            </a:pPr>
            <a:r>
              <a:rPr lang="zh-TW" altLang="en-US" b="1" dirty="0" smtClean="0">
                <a:latin typeface="+mn-ea"/>
              </a:rPr>
              <a:t>要確保儘量剪裁與原本的表格</a:t>
            </a:r>
            <a:r>
              <a:rPr lang="en-US" altLang="zh-TW" b="1" dirty="0" smtClean="0">
                <a:latin typeface="+mn-ea"/>
              </a:rPr>
              <a:t>(</a:t>
            </a:r>
            <a:r>
              <a:rPr lang="zh-TW" altLang="en-US" b="1" dirty="0" smtClean="0">
                <a:latin typeface="+mn-ea"/>
              </a:rPr>
              <a:t>如支票</a:t>
            </a:r>
            <a:r>
              <a:rPr lang="en-US" altLang="zh-TW" b="1" dirty="0" smtClean="0">
                <a:latin typeface="+mn-ea"/>
              </a:rPr>
              <a:t>)</a:t>
            </a:r>
            <a:r>
              <a:rPr lang="zh-TW" altLang="en-US" b="1" dirty="0" smtClean="0">
                <a:latin typeface="+mn-ea"/>
              </a:rPr>
              <a:t>一樣大小，而且邊緣的空白大小儘量與原本相同。</a:t>
            </a:r>
            <a:endParaRPr lang="en-US" altLang="zh-TW" b="1" dirty="0" smtClean="0">
              <a:latin typeface="+mn-ea"/>
            </a:endParaRPr>
          </a:p>
          <a:p>
            <a:pPr marL="514350" indent="-514350">
              <a:buFont typeface="+mj-lt"/>
              <a:buAutoNum type="arabicPeriod"/>
            </a:pPr>
            <a:r>
              <a:rPr lang="zh-TW" altLang="en-US" b="1" dirty="0" smtClean="0">
                <a:solidFill>
                  <a:srgbClr val="0000FF"/>
                </a:solidFill>
                <a:latin typeface="+mn-ea"/>
              </a:rPr>
              <a:t>用正本套印</a:t>
            </a:r>
            <a:r>
              <a:rPr lang="zh-TW" altLang="en-US" b="1" dirty="0" smtClean="0">
                <a:latin typeface="+mn-ea"/>
              </a:rPr>
              <a:t>：有些地方準了，有些地方不準，那您的表格的版本一定跟我不一樣</a:t>
            </a:r>
            <a:r>
              <a:rPr lang="en-US" altLang="zh-TW" b="1" dirty="0" smtClean="0">
                <a:latin typeface="+mn-ea"/>
              </a:rPr>
              <a:t>(</a:t>
            </a:r>
            <a:r>
              <a:rPr lang="zh-TW" altLang="en-US" b="1" dirty="0" smtClean="0">
                <a:latin typeface="+mn-ea"/>
              </a:rPr>
              <a:t>尺寸大小，表格內容設計</a:t>
            </a:r>
            <a:r>
              <a:rPr lang="en-US" altLang="zh-TW" b="1" dirty="0" smtClean="0">
                <a:latin typeface="+mn-ea"/>
              </a:rPr>
              <a:t>)</a:t>
            </a:r>
            <a:r>
              <a:rPr lang="zh-TW" altLang="en-US" b="1" dirty="0" smtClean="0">
                <a:latin typeface="+mn-ea"/>
              </a:rPr>
              <a:t>，可依下列方式處理。</a:t>
            </a:r>
            <a:endParaRPr lang="zh-TW" altLang="en-US" b="1" dirty="0">
              <a:latin typeface="+mn-ea"/>
            </a:endParaRPr>
          </a:p>
          <a:p>
            <a:pPr marL="914400" lvl="1" indent="-457200">
              <a:buFont typeface="+mj-lt"/>
              <a:buAutoNum type="arabicParenR"/>
            </a:pPr>
            <a:r>
              <a:rPr lang="zh-TW" altLang="en-US" b="1" dirty="0" smtClean="0">
                <a:latin typeface="+mn-ea"/>
              </a:rPr>
              <a:t>先</a:t>
            </a:r>
            <a:r>
              <a:rPr lang="zh-TW" altLang="en-US" b="1" dirty="0">
                <a:latin typeface="+mn-ea"/>
              </a:rPr>
              <a:t>將表格</a:t>
            </a:r>
            <a:r>
              <a:rPr lang="en-US" altLang="zh-TW" b="1" dirty="0">
                <a:latin typeface="+mn-ea"/>
              </a:rPr>
              <a:t>(</a:t>
            </a:r>
            <a:r>
              <a:rPr lang="zh-TW" altLang="en-US" b="1" dirty="0">
                <a:latin typeface="+mn-ea"/>
              </a:rPr>
              <a:t>如支票含存根</a:t>
            </a:r>
            <a:r>
              <a:rPr lang="en-US" altLang="zh-TW" b="1" dirty="0">
                <a:latin typeface="+mn-ea"/>
              </a:rPr>
              <a:t>)</a:t>
            </a:r>
            <a:r>
              <a:rPr lang="zh-TW" altLang="en-US" b="1" dirty="0">
                <a:latin typeface="+mn-ea"/>
              </a:rPr>
              <a:t>以最清楚的方式掃描成圖檔</a:t>
            </a:r>
            <a:r>
              <a:rPr lang="en-US" altLang="zh-TW" b="1" dirty="0">
                <a:latin typeface="+mn-ea"/>
              </a:rPr>
              <a:t>(</a:t>
            </a:r>
            <a:r>
              <a:rPr lang="en-US" altLang="zh-TW" b="1" dirty="0" err="1">
                <a:latin typeface="+mn-ea"/>
              </a:rPr>
              <a:t>png</a:t>
            </a:r>
            <a:r>
              <a:rPr lang="zh-TW" altLang="en-US" b="1" dirty="0">
                <a:latin typeface="+mn-ea"/>
              </a:rPr>
              <a:t>或其他格式</a:t>
            </a:r>
            <a:r>
              <a:rPr lang="en-US" altLang="zh-TW" b="1" dirty="0">
                <a:latin typeface="+mn-ea"/>
              </a:rPr>
              <a:t>)</a:t>
            </a:r>
            <a:r>
              <a:rPr lang="zh-TW" altLang="en-US" b="1" dirty="0">
                <a:latin typeface="+mn-ea"/>
              </a:rPr>
              <a:t>、電子檔</a:t>
            </a:r>
            <a:r>
              <a:rPr lang="en-US" altLang="zh-TW" b="1" dirty="0">
                <a:latin typeface="+mn-ea"/>
              </a:rPr>
              <a:t>(pdf)</a:t>
            </a:r>
            <a:r>
              <a:rPr lang="zh-TW" altLang="en-US" b="1" dirty="0">
                <a:latin typeface="+mn-ea"/>
              </a:rPr>
              <a:t>，要清楚、不可歪斜、掃描時請在表格背面放一張色紙，以利剪裁。</a:t>
            </a:r>
          </a:p>
          <a:p>
            <a:pPr marL="914400" lvl="1" indent="-457200">
              <a:buFont typeface="+mj-lt"/>
              <a:buAutoNum type="arabicParenR"/>
            </a:pPr>
            <a:r>
              <a:rPr lang="zh-TW" altLang="en-US" b="1" dirty="0" smtClean="0">
                <a:latin typeface="+mn-ea"/>
              </a:rPr>
              <a:t>將</a:t>
            </a:r>
            <a:r>
              <a:rPr lang="zh-TW" altLang="en-US" b="1" dirty="0">
                <a:latin typeface="+mn-ea"/>
              </a:rPr>
              <a:t>掃描後的表格檔案</a:t>
            </a:r>
            <a:r>
              <a:rPr lang="en-US" altLang="zh-TW" b="1" dirty="0">
                <a:latin typeface="+mn-ea"/>
              </a:rPr>
              <a:t>(</a:t>
            </a:r>
            <a:r>
              <a:rPr lang="zh-TW" altLang="en-US" b="1" dirty="0">
                <a:latin typeface="+mn-ea"/>
              </a:rPr>
              <a:t>圖檔</a:t>
            </a:r>
            <a:r>
              <a:rPr lang="en-US" altLang="zh-TW" b="1" dirty="0">
                <a:latin typeface="+mn-ea"/>
              </a:rPr>
              <a:t>)</a:t>
            </a:r>
            <a:r>
              <a:rPr lang="zh-TW" altLang="en-US" b="1" dirty="0">
                <a:latin typeface="+mn-ea"/>
              </a:rPr>
              <a:t>後提供給我們</a:t>
            </a:r>
          </a:p>
          <a:p>
            <a:pPr marL="914400" lvl="1" indent="-457200">
              <a:buFont typeface="+mj-lt"/>
              <a:buAutoNum type="arabicParenR"/>
            </a:pPr>
            <a:r>
              <a:rPr lang="zh-TW" altLang="en-US" b="1" dirty="0" smtClean="0">
                <a:latin typeface="+mn-ea"/>
              </a:rPr>
              <a:t>請</a:t>
            </a:r>
            <a:r>
              <a:rPr lang="zh-TW" altLang="en-US" b="1" dirty="0">
                <a:latin typeface="+mn-ea"/>
              </a:rPr>
              <a:t>用尺量</a:t>
            </a:r>
            <a:r>
              <a:rPr lang="zh-TW" altLang="en-US" b="1" dirty="0" smtClean="0">
                <a:latin typeface="+mn-ea"/>
              </a:rPr>
              <a:t>表格外觀的</a:t>
            </a:r>
            <a:r>
              <a:rPr lang="zh-TW" altLang="en-US" b="1" dirty="0">
                <a:latin typeface="+mn-ea"/>
              </a:rPr>
              <a:t>長寬資料，再提供精確的尺寸給我。尺寸單位為公制</a:t>
            </a:r>
            <a:r>
              <a:rPr lang="en-US" altLang="zh-TW" b="1" dirty="0">
                <a:latin typeface="+mn-ea"/>
              </a:rPr>
              <a:t>mm(1</a:t>
            </a:r>
            <a:r>
              <a:rPr lang="zh-TW" altLang="en-US" b="1" dirty="0" smtClean="0">
                <a:latin typeface="+mn-ea"/>
              </a:rPr>
              <a:t>公分</a:t>
            </a:r>
            <a:r>
              <a:rPr lang="en-US" altLang="zh-TW" b="1" dirty="0" smtClean="0">
                <a:latin typeface="+mn-ea"/>
              </a:rPr>
              <a:t>=10mm</a:t>
            </a:r>
            <a:r>
              <a:rPr lang="en-US" altLang="zh-TW" b="1" dirty="0">
                <a:latin typeface="+mn-ea"/>
              </a:rPr>
              <a:t>)</a:t>
            </a:r>
            <a:r>
              <a:rPr lang="zh-TW" altLang="en-US" b="1" dirty="0">
                <a:latin typeface="+mn-ea"/>
              </a:rPr>
              <a:t>，例如寬</a:t>
            </a:r>
            <a:r>
              <a:rPr lang="en-US" altLang="zh-TW" b="1" dirty="0">
                <a:latin typeface="+mn-ea"/>
              </a:rPr>
              <a:t>228mm</a:t>
            </a:r>
            <a:r>
              <a:rPr lang="zh-TW" altLang="en-US" b="1" dirty="0">
                <a:latin typeface="+mn-ea"/>
              </a:rPr>
              <a:t>、長</a:t>
            </a:r>
            <a:r>
              <a:rPr lang="en-US" altLang="zh-TW" b="1" dirty="0">
                <a:latin typeface="+mn-ea"/>
              </a:rPr>
              <a:t>(</a:t>
            </a:r>
            <a:r>
              <a:rPr lang="zh-TW" altLang="en-US" b="1" dirty="0">
                <a:latin typeface="+mn-ea"/>
              </a:rPr>
              <a:t>高</a:t>
            </a:r>
            <a:r>
              <a:rPr lang="en-US" altLang="zh-TW" b="1" dirty="0">
                <a:latin typeface="+mn-ea"/>
              </a:rPr>
              <a:t>)84.6mm</a:t>
            </a:r>
            <a:r>
              <a:rPr lang="zh-TW" altLang="en-US" b="1" dirty="0">
                <a:latin typeface="+mn-ea"/>
              </a:rPr>
              <a:t>。</a:t>
            </a:r>
          </a:p>
          <a:p>
            <a:pPr marL="914400" lvl="1" indent="-457200">
              <a:buFont typeface="+mj-lt"/>
              <a:buAutoNum type="arabicParenR"/>
            </a:pPr>
            <a:r>
              <a:rPr lang="zh-TW" altLang="en-US" b="1" dirty="0" smtClean="0">
                <a:latin typeface="+mn-ea"/>
              </a:rPr>
              <a:t>我們</a:t>
            </a:r>
            <a:r>
              <a:rPr lang="zh-TW" altLang="en-US" b="1" dirty="0">
                <a:latin typeface="+mn-ea"/>
              </a:rPr>
              <a:t>將在</a:t>
            </a:r>
            <a:r>
              <a:rPr lang="en-US" altLang="zh-TW" b="1" dirty="0">
                <a:latin typeface="+mn-ea"/>
              </a:rPr>
              <a:t>1~3</a:t>
            </a:r>
            <a:r>
              <a:rPr lang="zh-TW" altLang="en-US" b="1" dirty="0">
                <a:latin typeface="+mn-ea"/>
              </a:rPr>
              <a:t>個工作日完成設定，供給您匯入使用。</a:t>
            </a:r>
          </a:p>
          <a:p>
            <a:pPr marL="914400" lvl="1" indent="-457200">
              <a:buFont typeface="+mj-lt"/>
              <a:buAutoNum type="arabicParenR"/>
            </a:pPr>
            <a:r>
              <a:rPr lang="zh-TW" altLang="en-US" b="1" dirty="0" smtClean="0">
                <a:latin typeface="+mn-ea"/>
              </a:rPr>
              <a:t>若能寫一個</a:t>
            </a:r>
            <a:r>
              <a:rPr lang="zh-TW" altLang="en-US" b="1" dirty="0">
                <a:latin typeface="+mn-ea"/>
              </a:rPr>
              <a:t>填寫的範例</a:t>
            </a:r>
            <a:r>
              <a:rPr lang="zh-TW" altLang="en-US" b="1" dirty="0" smtClean="0">
                <a:latin typeface="+mn-ea"/>
              </a:rPr>
              <a:t>，更能符合您的需求。</a:t>
            </a:r>
            <a:endParaRPr lang="en-US" altLang="zh-TW" b="1" dirty="0" smtClean="0">
              <a:latin typeface="+mn-ea"/>
            </a:endParaRP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838200" y="365125"/>
            <a:ext cx="10515600" cy="8444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sz="3600" dirty="0"/>
              <a:t>仍無法正確</a:t>
            </a:r>
            <a:r>
              <a:rPr lang="zh-TW" altLang="en-US" sz="3600" dirty="0" smtClean="0"/>
              <a:t>套印</a:t>
            </a:r>
            <a:endParaRPr lang="zh-TW" altLang="en-US" sz="36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EF07-459A-4CB9-B1F3-0734876A23B5}" type="slidenum">
              <a:rPr lang="zh-TW" altLang="en-US" smtClean="0"/>
              <a:t>15</a:t>
            </a:fld>
            <a:endParaRPr lang="zh-TW" altLang="en-US" dirty="0"/>
          </a:p>
        </p:txBody>
      </p:sp>
    </p:spTree>
    <p:extLst>
      <p:ext uri="{BB962C8B-B14F-4D97-AF65-F5344CB8AC3E}">
        <p14:creationId xmlns:p14="http://schemas.microsoft.com/office/powerpoint/2010/main" val="28519860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838200" y="1495424"/>
            <a:ext cx="10515600" cy="5038379"/>
          </a:xfrm>
        </p:spPr>
        <p:txBody>
          <a:bodyPr>
            <a:normAutofit/>
          </a:bodyPr>
          <a:lstStyle/>
          <a:p>
            <a:pPr marL="514350" indent="-514350">
              <a:buFont typeface="+mj-lt"/>
              <a:buAutoNum type="arabicPeriod"/>
            </a:pPr>
            <a:r>
              <a:rPr lang="zh-TW" altLang="en-US" b="1" dirty="0" smtClean="0">
                <a:latin typeface="+mn-ea"/>
              </a:rPr>
              <a:t>真的</a:t>
            </a:r>
            <a:r>
              <a:rPr lang="en-US" altLang="zh-TW" b="1" dirty="0" smtClean="0">
                <a:latin typeface="+mn-ea"/>
              </a:rPr>
              <a:t>!</a:t>
            </a:r>
            <a:r>
              <a:rPr lang="zh-TW" altLang="en-US" b="1" dirty="0" smtClean="0">
                <a:latin typeface="+mn-ea"/>
              </a:rPr>
              <a:t>您</a:t>
            </a:r>
            <a:r>
              <a:rPr lang="zh-TW" altLang="en-US" b="1" dirty="0">
                <a:latin typeface="+mn-ea"/>
              </a:rPr>
              <a:t>不用再為了各種不同的表格套印問題，而不斷的尋找、添購一堆套印</a:t>
            </a:r>
            <a:r>
              <a:rPr lang="zh-TW" altLang="en-US" b="1" dirty="0" smtClean="0">
                <a:latin typeface="+mn-ea"/>
              </a:rPr>
              <a:t>軟體，「</a:t>
            </a:r>
            <a:r>
              <a:rPr lang="zh-TW" altLang="en-US" b="1" dirty="0">
                <a:latin typeface="+mn-ea"/>
              </a:rPr>
              <a:t>表格套印管理系統」</a:t>
            </a:r>
            <a:r>
              <a:rPr lang="en-US" altLang="zh-TW" b="1" dirty="0">
                <a:latin typeface="+mn-ea"/>
              </a:rPr>
              <a:t>(</a:t>
            </a:r>
            <a:r>
              <a:rPr lang="en-US" altLang="zh-TW" b="1" dirty="0" err="1">
                <a:latin typeface="+mn-ea"/>
              </a:rPr>
              <a:t>FormPrint</a:t>
            </a:r>
            <a:r>
              <a:rPr lang="en-US" altLang="zh-TW" b="1" dirty="0">
                <a:latin typeface="+mn-ea"/>
              </a:rPr>
              <a:t>)</a:t>
            </a:r>
            <a:r>
              <a:rPr lang="zh-TW" altLang="en-US" b="1" dirty="0">
                <a:latin typeface="+mn-ea"/>
              </a:rPr>
              <a:t>一套就能</a:t>
            </a:r>
            <a:r>
              <a:rPr lang="zh-TW" altLang="en-US" b="1" dirty="0" smtClean="0">
                <a:latin typeface="+mn-ea"/>
              </a:rPr>
              <a:t>解決所有</a:t>
            </a:r>
            <a:r>
              <a:rPr lang="zh-TW" altLang="en-US" b="1" dirty="0">
                <a:latin typeface="+mn-ea"/>
              </a:rPr>
              <a:t>的套印</a:t>
            </a:r>
            <a:r>
              <a:rPr lang="zh-TW" altLang="en-US" b="1" dirty="0" smtClean="0">
                <a:latin typeface="+mn-ea"/>
              </a:rPr>
              <a:t>問題，如果您有任何套印相關的問題，都歡迎與我們聯絡。</a:t>
            </a:r>
            <a:endParaRPr lang="zh-TW" altLang="zh-TW" sz="2400" dirty="0">
              <a:latin typeface="+mn-ea"/>
            </a:endParaRPr>
          </a:p>
          <a:p>
            <a:pPr marL="514350" indent="-514350">
              <a:buFont typeface="+mj-lt"/>
              <a:buAutoNum type="arabicPeriod"/>
            </a:pPr>
            <a:r>
              <a:rPr lang="zh-TW" altLang="en-US" dirty="0" smtClean="0">
                <a:latin typeface="+mn-ea"/>
              </a:rPr>
              <a:t>聯絡方式：</a:t>
            </a:r>
            <a:endParaRPr lang="en-US" altLang="zh-TW" dirty="0" smtClean="0">
              <a:latin typeface="+mn-ea"/>
            </a:endParaRPr>
          </a:p>
          <a:p>
            <a:pPr lvl="1"/>
            <a:r>
              <a:rPr lang="zh-TW" altLang="zh-TW" dirty="0" smtClean="0">
                <a:latin typeface="+mn-ea"/>
              </a:rPr>
              <a:t>聯絡人</a:t>
            </a:r>
            <a:r>
              <a:rPr lang="en-US" altLang="zh-TW" dirty="0" smtClean="0">
                <a:latin typeface="+mn-ea"/>
              </a:rPr>
              <a:t>    </a:t>
            </a:r>
            <a:r>
              <a:rPr lang="zh-TW" altLang="zh-TW" dirty="0" smtClean="0">
                <a:latin typeface="+mn-ea"/>
              </a:rPr>
              <a:t>：</a:t>
            </a:r>
            <a:r>
              <a:rPr lang="zh-TW" altLang="zh-TW" dirty="0">
                <a:latin typeface="+mn-ea"/>
              </a:rPr>
              <a:t>呂小姐</a:t>
            </a:r>
            <a:r>
              <a:rPr lang="en-US" altLang="zh-TW" dirty="0">
                <a:latin typeface="+mn-ea"/>
              </a:rPr>
              <a:t>   </a:t>
            </a:r>
            <a:r>
              <a:rPr lang="zh-TW" altLang="zh-TW" dirty="0">
                <a:latin typeface="+mn-ea"/>
              </a:rPr>
              <a:t>電話：</a:t>
            </a:r>
            <a:r>
              <a:rPr lang="en-US" altLang="zh-TW" dirty="0">
                <a:latin typeface="+mn-ea"/>
              </a:rPr>
              <a:t>0928-267-255</a:t>
            </a:r>
            <a:endParaRPr lang="zh-TW" altLang="zh-TW" dirty="0">
              <a:latin typeface="+mn-ea"/>
            </a:endParaRPr>
          </a:p>
          <a:p>
            <a:pPr lvl="1"/>
            <a:r>
              <a:rPr lang="zh-TW" altLang="zh-TW" dirty="0" smtClean="0">
                <a:latin typeface="+mn-ea"/>
              </a:rPr>
              <a:t>網</a:t>
            </a:r>
            <a:r>
              <a:rPr lang="en-US" altLang="zh-TW" dirty="0" smtClean="0">
                <a:latin typeface="+mn-ea"/>
              </a:rPr>
              <a:t>   </a:t>
            </a:r>
            <a:r>
              <a:rPr lang="zh-TW" altLang="zh-TW" dirty="0" smtClean="0">
                <a:latin typeface="+mn-ea"/>
              </a:rPr>
              <a:t>址</a:t>
            </a:r>
            <a:r>
              <a:rPr lang="en-US" altLang="zh-TW" dirty="0" smtClean="0">
                <a:latin typeface="+mn-ea"/>
              </a:rPr>
              <a:t>     </a:t>
            </a:r>
            <a:r>
              <a:rPr lang="zh-TW" altLang="zh-TW" dirty="0" smtClean="0">
                <a:latin typeface="+mn-ea"/>
              </a:rPr>
              <a:t>：</a:t>
            </a:r>
            <a:r>
              <a:rPr lang="en-US" altLang="zh-TW" u="sng" dirty="0" smtClean="0">
                <a:latin typeface="+mn-ea"/>
                <a:hlinkClick r:id="rId2"/>
              </a:rPr>
              <a:t>https</a:t>
            </a:r>
            <a:r>
              <a:rPr lang="en-US" altLang="zh-TW" u="sng" dirty="0">
                <a:latin typeface="+mn-ea"/>
                <a:hlinkClick r:id="rId2"/>
              </a:rPr>
              <a:t>://www.formprint.dev/</a:t>
            </a:r>
            <a:endParaRPr lang="zh-TW" altLang="zh-TW" dirty="0">
              <a:latin typeface="+mn-ea"/>
            </a:endParaRPr>
          </a:p>
          <a:p>
            <a:pPr lvl="1"/>
            <a:r>
              <a:rPr lang="en-US" altLang="zh-TW" dirty="0" smtClean="0">
                <a:latin typeface="+mn-ea"/>
              </a:rPr>
              <a:t>Telegram</a:t>
            </a:r>
            <a:r>
              <a:rPr lang="zh-TW" altLang="en-US" dirty="0">
                <a:latin typeface="+mn-ea"/>
              </a:rPr>
              <a:t> </a:t>
            </a:r>
            <a:r>
              <a:rPr lang="zh-TW" altLang="en-US" dirty="0" smtClean="0">
                <a:latin typeface="+mn-ea"/>
              </a:rPr>
              <a:t> </a:t>
            </a:r>
            <a:r>
              <a:rPr lang="zh-TW" altLang="zh-TW" dirty="0" smtClean="0">
                <a:latin typeface="+mn-ea"/>
              </a:rPr>
              <a:t>：</a:t>
            </a:r>
            <a:r>
              <a:rPr lang="en-US" altLang="zh-TW" u="sng" dirty="0" smtClean="0">
                <a:latin typeface="+mn-ea"/>
                <a:hlinkClick r:id="rId3"/>
              </a:rPr>
              <a:t>@</a:t>
            </a:r>
            <a:r>
              <a:rPr lang="en-US" altLang="zh-TW" u="sng" dirty="0" err="1" smtClean="0">
                <a:latin typeface="+mn-ea"/>
                <a:hlinkClick r:id="rId3"/>
              </a:rPr>
              <a:t>DataReport</a:t>
            </a:r>
            <a:endParaRPr lang="zh-TW" altLang="zh-TW" dirty="0">
              <a:latin typeface="+mn-ea"/>
            </a:endParaRPr>
          </a:p>
          <a:p>
            <a:pPr lvl="1"/>
            <a:r>
              <a:rPr lang="en-US" altLang="zh-TW" dirty="0" smtClean="0">
                <a:latin typeface="+mn-ea"/>
              </a:rPr>
              <a:t>LINE</a:t>
            </a:r>
            <a:r>
              <a:rPr lang="en-US" altLang="zh-TW" dirty="0">
                <a:latin typeface="+mn-ea"/>
              </a:rPr>
              <a:t> </a:t>
            </a:r>
            <a:r>
              <a:rPr lang="en-US" altLang="zh-TW" dirty="0" smtClean="0">
                <a:latin typeface="+mn-ea"/>
              </a:rPr>
              <a:t>ID   </a:t>
            </a:r>
            <a:r>
              <a:rPr lang="zh-TW" altLang="zh-TW" dirty="0" smtClean="0">
                <a:latin typeface="+mn-ea"/>
              </a:rPr>
              <a:t>：</a:t>
            </a:r>
            <a:r>
              <a:rPr lang="en-US" altLang="zh-TW" u="sng" dirty="0" smtClean="0">
                <a:latin typeface="+mn-ea"/>
                <a:hlinkClick r:id="rId4"/>
              </a:rPr>
              <a:t>overprint.tw</a:t>
            </a:r>
            <a:endParaRPr lang="en-US" altLang="zh-TW" u="sng" dirty="0" smtClean="0">
              <a:latin typeface="+mn-ea"/>
            </a:endParaRPr>
          </a:p>
          <a:p>
            <a:pPr lvl="1"/>
            <a:r>
              <a:rPr lang="zh-TW" altLang="zh-TW" smtClean="0">
                <a:latin typeface="+mn-ea"/>
              </a:rPr>
              <a:t>電子信箱：</a:t>
            </a:r>
            <a:r>
              <a:rPr lang="en-US" altLang="zh-TW" u="sng" dirty="0" smtClean="0">
                <a:latin typeface="+mn-ea"/>
                <a:hlinkClick r:id="rId5"/>
              </a:rPr>
              <a:t>overprint.tw@gmail.com</a:t>
            </a:r>
          </a:p>
        </p:txBody>
      </p:sp>
      <p:sp>
        <p:nvSpPr>
          <p:cNvPr id="4" name="標題 1"/>
          <p:cNvSpPr txBox="1">
            <a:spLocks/>
          </p:cNvSpPr>
          <p:nvPr/>
        </p:nvSpPr>
        <p:spPr>
          <a:xfrm>
            <a:off x="838200" y="365125"/>
            <a:ext cx="10515600" cy="844489"/>
          </a:xfrm>
          <a:prstGeom prst="rect">
            <a:avLst/>
          </a:prstGeom>
          <a:solidFill>
            <a:schemeClr val="accent6">
              <a:lumMod val="20000"/>
              <a:lumOff val="80000"/>
            </a:schemeClr>
          </a:solidFill>
        </p:spPr>
        <p:txBody>
          <a:bodyPr vert="horz" lIns="91440" tIns="45720" rIns="91440" bIns="45720" rtlCol="0" anchor="ctr">
            <a:norm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zh-TW" altLang="en-US" sz="3600" dirty="0" smtClean="0"/>
              <a:t>與我們聯絡</a:t>
            </a:r>
            <a:endParaRPr lang="zh-TW" altLang="en-US" sz="3600" dirty="0"/>
          </a:p>
        </p:txBody>
      </p:sp>
      <p:sp>
        <p:nvSpPr>
          <p:cNvPr id="2" name="投影片編號版面配置區 1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6B6EF07-459A-4CB9-B1F3-0734876A23B5}" type="slidenum">
              <a:rPr lang="zh-TW" altLang="en-US" smtClean="0"/>
              <a:t>16</a:t>
            </a:fld>
            <a:endParaRPr lang="zh-TW" altLang="en-US" dirty="0"/>
          </a:p>
        </p:txBody>
      </p:sp>
      <p:sp>
        <p:nvSpPr>
          <p:cNvPr id="6" name="文字方塊 5"/>
          <p:cNvSpPr txBox="1"/>
          <p:nvPr/>
        </p:nvSpPr>
        <p:spPr>
          <a:xfrm>
            <a:off x="8569063" y="5839707"/>
            <a:ext cx="2784737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sz="2400" b="1" u="sng" dirty="0"/>
              <a:t>電腦套印</a:t>
            </a:r>
            <a:r>
              <a:rPr lang="zh-TW" altLang="en-US" sz="2400" b="1" u="sng" dirty="0" smtClean="0"/>
              <a:t>專家  敬上</a:t>
            </a:r>
            <a:endParaRPr lang="zh-TW" alt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97655775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1092</TotalTime>
  <Words>2097</Words>
  <Application>Microsoft Office PowerPoint</Application>
  <PresentationFormat>寬螢幕</PresentationFormat>
  <Paragraphs>183</Paragraphs>
  <Slides>16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16</vt:i4>
      </vt:variant>
    </vt:vector>
  </HeadingPairs>
  <TitlesOfParts>
    <vt:vector size="22" baseType="lpstr">
      <vt:lpstr>新細明體</vt:lpstr>
      <vt:lpstr>Arial</vt:lpstr>
      <vt:lpstr>Calibri</vt:lpstr>
      <vt:lpstr>Calibri Light</vt:lpstr>
      <vt:lpstr>Wingdings</vt:lpstr>
      <vt:lpstr>Office 佈景主題</vt:lpstr>
      <vt:lpstr>將資料套印在正確的位置</vt:lpstr>
      <vt:lpstr>大綱</vt:lpstr>
      <vt:lpstr>PowerPoint 簡報</vt:lpstr>
      <vt:lpstr>PowerPoint 簡報</vt:lpstr>
      <vt:lpstr>將表格置入印表機後夾穩(1/2)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將資料套印在正確的位置</dc:title>
  <dc:creator>Windows 使用者</dc:creator>
  <cp:lastModifiedBy>Windows 使用者</cp:lastModifiedBy>
  <cp:revision>56</cp:revision>
  <dcterms:created xsi:type="dcterms:W3CDTF">2020-05-23T14:20:53Z</dcterms:created>
  <dcterms:modified xsi:type="dcterms:W3CDTF">2021-03-21T14:16:48Z</dcterms:modified>
</cp:coreProperties>
</file>